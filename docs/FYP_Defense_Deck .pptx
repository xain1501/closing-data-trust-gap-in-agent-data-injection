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9A8B7E2-F705-44A5-A6D5-286A8FD80680}">
  <a:tblStyle styleId="{89A8B7E2-F705-44A5-A6D5-286A8FD8068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fbb26c0300_1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g3fbb26c0300_1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g3fbb26c0300_1_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fbb26c0300_1_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g3fbb26c0300_1_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g3fbb26c0300_1_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6" name="Google Shape;34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fbbde2e969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" name="Google Shape;355;g3fbbde2e969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g3fbbde2e969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3" name="Google Shape;36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Relationship Id="rId4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B167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9692640" y="-2011680"/>
            <a:ext cx="5943600" cy="5943600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-2011680" y="4572000"/>
            <a:ext cx="4754880" cy="47548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C9F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9C9FA"/>
                </a:solidFill>
                <a:latin typeface="Calibri"/>
                <a:ea typeface="Calibri"/>
                <a:cs typeface="Calibri"/>
                <a:sym typeface="Calibri"/>
              </a:rPr>
              <a:t>FINAL YEAR PROJECT PROPOSAL  ·  SESSION FALL 2026  ·  BS(CS)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 txBox="1"/>
          <p:nvPr/>
        </p:nvSpPr>
        <p:spPr>
          <a:xfrm>
            <a:off x="731520" y="1965960"/>
            <a:ext cx="1042416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mbria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Closing the Data Trust Gap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mbria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in Agent Data Injection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 txBox="1"/>
          <p:nvPr/>
        </p:nvSpPr>
        <p:spPr>
          <a:xfrm>
            <a:off x="731520" y="3977640"/>
            <a:ext cx="9601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B8F2"/>
              </a:buClr>
              <a:buSzPts val="1700"/>
              <a:buFont typeface="Calibri"/>
              <a:buNone/>
            </a:pPr>
            <a:r>
              <a:rPr b="0" i="1" lang="en-US" sz="1700" u="none" cap="none" strike="noStrike">
                <a:solidFill>
                  <a:srgbClr val="CBB8F2"/>
                </a:solidFill>
                <a:latin typeface="Calibri"/>
                <a:ea typeface="Calibri"/>
                <a:cs typeface="Calibri"/>
                <a:sym typeface="Calibri"/>
              </a:rPr>
              <a:t>A bidirectional, provenance-aware detection pipeline for LLM tool-using agents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" name="Google Shape;21;p3"/>
          <p:cNvCxnSpPr/>
          <p:nvPr/>
        </p:nvCxnSpPr>
        <p:spPr>
          <a:xfrm>
            <a:off x="731520" y="4709160"/>
            <a:ext cx="2743200" cy="0"/>
          </a:xfrm>
          <a:prstGeom prst="straightConnector1">
            <a:avLst/>
          </a:prstGeom>
          <a:noFill/>
          <a:ln cap="flat" cmpd="sng" w="254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3"/>
          <p:cNvSpPr txBox="1"/>
          <p:nvPr/>
        </p:nvSpPr>
        <p:spPr>
          <a:xfrm>
            <a:off x="731520" y="502920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Zain Saqib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 txBox="1"/>
          <p:nvPr/>
        </p:nvSpPr>
        <p:spPr>
          <a:xfrm>
            <a:off x="3200400" y="502920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B8F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BB8F2"/>
                </a:solidFill>
                <a:latin typeface="Calibri"/>
                <a:ea typeface="Calibri"/>
                <a:cs typeface="Calibri"/>
                <a:sym typeface="Calibri"/>
              </a:rPr>
              <a:t>Group Leader  ·  k230588@nu.edu.pk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 txBox="1"/>
          <p:nvPr/>
        </p:nvSpPr>
        <p:spPr>
          <a:xfrm>
            <a:off x="731520" y="548640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Tasbiha Nasir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 txBox="1"/>
          <p:nvPr/>
        </p:nvSpPr>
        <p:spPr>
          <a:xfrm>
            <a:off x="3200400" y="548640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B8F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BB8F2"/>
                </a:solidFill>
                <a:latin typeface="Calibri"/>
                <a:ea typeface="Calibri"/>
                <a:cs typeface="Calibri"/>
                <a:sym typeface="Calibri"/>
              </a:rPr>
              <a:t>Member  ·  k230528@nu.edu.pk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 txBox="1"/>
          <p:nvPr/>
        </p:nvSpPr>
        <p:spPr>
          <a:xfrm>
            <a:off x="731520" y="594360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Madiha Aslam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 txBox="1"/>
          <p:nvPr/>
        </p:nvSpPr>
        <p:spPr>
          <a:xfrm>
            <a:off x="3200400" y="594360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B8F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BB8F2"/>
                </a:solidFill>
                <a:latin typeface="Calibri"/>
                <a:ea typeface="Calibri"/>
                <a:cs typeface="Calibri"/>
                <a:sym typeface="Calibri"/>
              </a:rPr>
              <a:t>Member  ·  k230846@nu.edu.pk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 txBox="1"/>
          <p:nvPr/>
        </p:nvSpPr>
        <p:spPr>
          <a:xfrm>
            <a:off x="7680960" y="5074920"/>
            <a:ext cx="3840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BB8F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B8F2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BB8F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B8F2"/>
                </a:solidFill>
                <a:latin typeface="Calibri"/>
                <a:ea typeface="Calibri"/>
                <a:cs typeface="Calibri"/>
                <a:sym typeface="Calibri"/>
              </a:rPr>
              <a:t>National University of Computer &amp; Emerging Sciences, FAST  Karachi Campus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 txBox="1"/>
          <p:nvPr/>
        </p:nvSpPr>
        <p:spPr>
          <a:xfrm>
            <a:off x="640080" y="749808"/>
            <a:ext cx="9601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22B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8122B"/>
                </a:solidFill>
                <a:latin typeface="Cambria"/>
                <a:ea typeface="Cambria"/>
                <a:cs typeface="Cambria"/>
                <a:sym typeface="Cambria"/>
              </a:rPr>
              <a:t>Agents now act on the world </a:t>
            </a:r>
            <a:r>
              <a:rPr b="1" lang="en-US" sz="3200">
                <a:solidFill>
                  <a:srgbClr val="18122B"/>
                </a:solidFill>
                <a:latin typeface="Cambria"/>
                <a:ea typeface="Cambria"/>
                <a:cs typeface="Cambria"/>
                <a:sym typeface="Cambria"/>
              </a:rPr>
              <a:t>,</a:t>
            </a:r>
            <a:r>
              <a:rPr b="1" i="0" lang="en-US" sz="3200" u="none" cap="none" strike="noStrike">
                <a:solidFill>
                  <a:srgbClr val="18122B"/>
                </a:solidFill>
                <a:latin typeface="Cambria"/>
                <a:ea typeface="Cambria"/>
                <a:cs typeface="Cambria"/>
                <a:sym typeface="Cambria"/>
              </a:rPr>
              <a:t> not just on text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11000232" y="63550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B456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B4560"/>
                </a:solidFill>
                <a:latin typeface="Calibri"/>
                <a:ea typeface="Calibri"/>
                <a:cs typeface="Calibri"/>
                <a:sym typeface="Calibri"/>
              </a:rPr>
              <a:t>02 / 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 txBox="1"/>
          <p:nvPr/>
        </p:nvSpPr>
        <p:spPr>
          <a:xfrm>
            <a:off x="640080" y="1691640"/>
            <a:ext cx="548640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B4560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4B4560"/>
                </a:solidFill>
                <a:latin typeface="Calibri"/>
                <a:ea typeface="Calibri"/>
                <a:cs typeface="Calibri"/>
                <a:sym typeface="Calibri"/>
              </a:rPr>
              <a:t>Organisations are deploying LLM agents into workflows with real side effects: sending emails, moving funds, merging code, deleting records. A successful exploit now carries financial, operational, or safety consequences </a:t>
            </a:r>
            <a:r>
              <a:rPr lang="en-US" sz="1450">
                <a:solidFill>
                  <a:srgbClr val="4B456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-US" sz="1450" u="none" cap="none" strike="noStrike">
                <a:solidFill>
                  <a:srgbClr val="4B4560"/>
                </a:solidFill>
                <a:latin typeface="Calibri"/>
                <a:ea typeface="Calibri"/>
                <a:cs typeface="Calibri"/>
                <a:sym typeface="Calibri"/>
              </a:rPr>
              <a:t> not just bad text.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6400800" y="1572768"/>
            <a:ext cx="347472" cy="347472"/>
          </a:xfrm>
          <a:prstGeom prst="ellipse">
            <a:avLst/>
          </a:prstGeom>
          <a:solidFill>
            <a:srgbClr val="EAE1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 txBox="1"/>
          <p:nvPr/>
        </p:nvSpPr>
        <p:spPr>
          <a:xfrm>
            <a:off x="6400800" y="157276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988"/>
              <a:buFont typeface="Calibri"/>
              <a:buNone/>
            </a:pPr>
            <a:r>
              <a:rPr b="1" i="0" lang="en-US" sz="988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 txBox="1"/>
          <p:nvPr/>
        </p:nvSpPr>
        <p:spPr>
          <a:xfrm>
            <a:off x="6949440" y="1508760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12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8122B"/>
                </a:solidFill>
                <a:latin typeface="Calibri"/>
                <a:ea typeface="Calibri"/>
                <a:cs typeface="Calibri"/>
                <a:sym typeface="Calibri"/>
              </a:rPr>
              <a:t>Indirect Prompt Injection (IPI)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 txBox="1"/>
          <p:nvPr/>
        </p:nvSpPr>
        <p:spPr>
          <a:xfrm>
            <a:off x="6949440" y="1801368"/>
            <a:ext cx="4572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4B456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B4560"/>
                </a:solidFill>
                <a:latin typeface="Calibri"/>
                <a:ea typeface="Calibri"/>
                <a:cs typeface="Calibri"/>
                <a:sym typeface="Calibri"/>
              </a:rPr>
              <a:t>Attacker instructions embedded in external content (web pages, emails, docs) get executed as if authorized.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6400800" y="2532888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 txBox="1"/>
          <p:nvPr/>
        </p:nvSpPr>
        <p:spPr>
          <a:xfrm>
            <a:off x="6400800" y="253288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8"/>
              <a:buFont typeface="Calibri"/>
              <a:buNone/>
            </a:pPr>
            <a:r>
              <a:rPr b="1" i="0" lang="en-US" sz="98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 txBox="1"/>
          <p:nvPr/>
        </p:nvSpPr>
        <p:spPr>
          <a:xfrm>
            <a:off x="6949440" y="2468880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12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8122B"/>
                </a:solidFill>
                <a:latin typeface="Calibri"/>
                <a:ea typeface="Calibri"/>
                <a:cs typeface="Calibri"/>
                <a:sym typeface="Calibri"/>
              </a:rPr>
              <a:t>Agent Data Injection (ADI)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 txBox="1"/>
          <p:nvPr/>
        </p:nvSpPr>
        <p:spPr>
          <a:xfrm>
            <a:off x="6949440" y="2761488"/>
            <a:ext cx="4572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4B456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B4560"/>
                </a:solidFill>
                <a:latin typeface="Calibri"/>
                <a:ea typeface="Calibri"/>
                <a:cs typeface="Calibri"/>
                <a:sym typeface="Calibri"/>
              </a:rPr>
              <a:t>A structural sub-category of IPI: malicious values embedded in structured tool responses hijack control flow or arguments.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6400800" y="3493008"/>
            <a:ext cx="347472" cy="347472"/>
          </a:xfrm>
          <a:prstGeom prst="ellipse">
            <a:avLst/>
          </a:prstGeom>
          <a:solidFill>
            <a:srgbClr val="EAE1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 txBox="1"/>
          <p:nvPr/>
        </p:nvSpPr>
        <p:spPr>
          <a:xfrm>
            <a:off x="6400800" y="349300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988"/>
              <a:buFont typeface="Calibri"/>
              <a:buNone/>
            </a:pPr>
            <a:r>
              <a:rPr b="1" i="0" lang="en-US" sz="988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 txBox="1"/>
          <p:nvPr/>
        </p:nvSpPr>
        <p:spPr>
          <a:xfrm>
            <a:off x="6949440" y="3429000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12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8122B"/>
                </a:solidFill>
                <a:latin typeface="Calibri"/>
                <a:ea typeface="Calibri"/>
                <a:cs typeface="Calibri"/>
                <a:sym typeface="Calibri"/>
              </a:rPr>
              <a:t>The root cause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 txBox="1"/>
          <p:nvPr/>
        </p:nvSpPr>
        <p:spPr>
          <a:xfrm>
            <a:off x="6949440" y="3721608"/>
            <a:ext cx="4572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4B456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B4560"/>
                </a:solidFill>
                <a:latin typeface="Calibri"/>
                <a:ea typeface="Calibri"/>
                <a:cs typeface="Calibri"/>
                <a:sym typeface="Calibri"/>
              </a:rPr>
              <a:t>LLMs operate on text with no formal mechanism to separate trusted instructions from untrusted data.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640080" y="4434840"/>
            <a:ext cx="10881360" cy="1600200"/>
          </a:xfrm>
          <a:prstGeom prst="rect">
            <a:avLst/>
          </a:prstGeom>
          <a:solidFill>
            <a:srgbClr val="F3EE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 txBox="1"/>
          <p:nvPr/>
        </p:nvSpPr>
        <p:spPr>
          <a:xfrm>
            <a:off x="960120" y="4617720"/>
            <a:ext cx="1024128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500"/>
              <a:buFont typeface="Cambria"/>
              <a:buNone/>
            </a:pPr>
            <a:r>
              <a:rPr b="0" i="1" lang="en-US" sz="1500" u="none" cap="none" strike="noStrike">
                <a:solidFill>
                  <a:srgbClr val="3B1670"/>
                </a:solidFill>
                <a:latin typeface="Cambria"/>
                <a:ea typeface="Cambria"/>
                <a:cs typeface="Cambria"/>
                <a:sym typeface="Cambria"/>
              </a:rPr>
              <a:t>“ LLMs are left to resolve the trust boundary themselves — the same flexibility that lets them follow open-ended instructions is what leaves them unable to reliably reject instructions they were never meant to receive. ”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B1670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C9F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9C9FA"/>
                </a:solidFill>
                <a:latin typeface="Calibri"/>
                <a:ea typeface="Calibri"/>
                <a:cs typeface="Calibri"/>
                <a:sym typeface="Calibri"/>
              </a:rPr>
              <a:t>WHY IT MATTERS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 txBox="1"/>
          <p:nvPr/>
        </p:nvSpPr>
        <p:spPr>
          <a:xfrm>
            <a:off x="640074" y="749800"/>
            <a:ext cx="11173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ADI keeps succeeding where other defenses already work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11000232" y="63550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B456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B4560"/>
                </a:solidFill>
                <a:latin typeface="Calibri"/>
                <a:ea typeface="Calibri"/>
                <a:cs typeface="Calibri"/>
                <a:sym typeface="Calibri"/>
              </a:rPr>
              <a:t>03 / 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11000232" y="63550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BB8F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BB8F2"/>
                </a:solidFill>
                <a:latin typeface="Calibri"/>
                <a:ea typeface="Calibri"/>
                <a:cs typeface="Calibri"/>
                <a:sym typeface="Calibri"/>
              </a:rPr>
              <a:t>03 / 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640084" y="1883706"/>
            <a:ext cx="1973700" cy="2104800"/>
          </a:xfrm>
          <a:prstGeom prst="rect">
            <a:avLst/>
          </a:prstGeom>
          <a:solidFill>
            <a:srgbClr val="4C2A94"/>
          </a:solidFill>
          <a:ln>
            <a:noFill/>
          </a:ln>
        </p:spPr>
        <p:txBody>
          <a:bodyPr anchorCtr="0" anchor="ctr" bIns="78350" lIns="78350" spcFirstLastPara="1" rIns="78350" wrap="square" tIns="78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 txBox="1"/>
          <p:nvPr/>
        </p:nvSpPr>
        <p:spPr>
          <a:xfrm>
            <a:off x="640084" y="2090058"/>
            <a:ext cx="1973700" cy="7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175" lIns="78350" spcFirstLastPara="1" rIns="78350" wrap="square" tIns="391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71"/>
              <a:buFont typeface="Cambria"/>
              <a:buNone/>
            </a:pPr>
            <a:r>
              <a:rPr b="1" i="0" lang="en-US" sz="2571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31.3–43.3%</a:t>
            </a:r>
            <a:endParaRPr b="0" i="0" sz="257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 txBox="1"/>
          <p:nvPr/>
        </p:nvSpPr>
        <p:spPr>
          <a:xfrm>
            <a:off x="747748" y="2874193"/>
            <a:ext cx="17583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175" lIns="78350" spcFirstLastPara="1" rIns="78350" wrap="square" tIns="39175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3D6FA"/>
              </a:buClr>
              <a:buSzPts val="986"/>
              <a:buFont typeface="Calibri"/>
              <a:buNone/>
            </a:pPr>
            <a:r>
              <a:rPr b="0" i="0" lang="en-US" sz="986" u="none" cap="none" strike="noStrike">
                <a:solidFill>
                  <a:srgbClr val="E3D6FA"/>
                </a:solidFill>
                <a:latin typeface="Calibri"/>
                <a:ea typeface="Calibri"/>
                <a:cs typeface="Calibri"/>
                <a:sym typeface="Calibri"/>
              </a:rPr>
              <a:t>ASR on JSON tool data</a:t>
            </a:r>
            <a:endParaRPr b="0" i="0" sz="98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3D6FA"/>
              </a:buClr>
              <a:buSzPts val="986"/>
              <a:buFont typeface="Calibri"/>
              <a:buNone/>
            </a:pPr>
            <a:r>
              <a:rPr b="0" i="0" lang="en-US" sz="986" u="none" cap="none" strike="noStrike">
                <a:solidFill>
                  <a:srgbClr val="E3D6FA"/>
                </a:solidFill>
                <a:latin typeface="Calibri"/>
                <a:ea typeface="Calibri"/>
                <a:cs typeface="Calibri"/>
                <a:sym typeface="Calibri"/>
              </a:rPr>
              <a:t>across 6 off-the-shelf models</a:t>
            </a:r>
            <a:endParaRPr b="0" i="0" sz="98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2758838" y="1883650"/>
            <a:ext cx="1973700" cy="2104800"/>
          </a:xfrm>
          <a:prstGeom prst="rect">
            <a:avLst/>
          </a:prstGeom>
          <a:solidFill>
            <a:srgbClr val="4C2A94"/>
          </a:solidFill>
          <a:ln>
            <a:noFill/>
          </a:ln>
        </p:spPr>
        <p:txBody>
          <a:bodyPr anchorCtr="0" anchor="ctr" bIns="78350" lIns="78350" spcFirstLastPara="1" rIns="78350" wrap="square" tIns="78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 txBox="1"/>
          <p:nvPr/>
        </p:nvSpPr>
        <p:spPr>
          <a:xfrm>
            <a:off x="2758838" y="2090001"/>
            <a:ext cx="1973700" cy="7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175" lIns="78350" spcFirstLastPara="1" rIns="78350" wrap="square" tIns="391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71"/>
              <a:buFont typeface="Cambria"/>
              <a:buNone/>
            </a:pPr>
            <a:r>
              <a:rPr b="1" i="0" lang="en-US" sz="2571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33.3–100%</a:t>
            </a:r>
            <a:endParaRPr b="0" i="0" sz="257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 txBox="1"/>
          <p:nvPr/>
        </p:nvSpPr>
        <p:spPr>
          <a:xfrm>
            <a:off x="2866503" y="2874136"/>
            <a:ext cx="17583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175" lIns="78350" spcFirstLastPara="1" rIns="78350" wrap="square" tIns="39175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3D6FA"/>
              </a:buClr>
              <a:buSzPts val="986"/>
              <a:buFont typeface="Calibri"/>
              <a:buNone/>
            </a:pPr>
            <a:r>
              <a:rPr b="0" i="0" lang="en-US" sz="986" u="none" cap="none" strike="noStrike">
                <a:solidFill>
                  <a:srgbClr val="E3D6FA"/>
                </a:solidFill>
                <a:latin typeface="Calibri"/>
                <a:ea typeface="Calibri"/>
                <a:cs typeface="Calibri"/>
                <a:sym typeface="Calibri"/>
              </a:rPr>
              <a:t>ASR on web-DOM data —</a:t>
            </a:r>
            <a:endParaRPr b="0" i="0" sz="98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3D6FA"/>
              </a:buClr>
              <a:buSzPts val="986"/>
              <a:buFont typeface="Calibri"/>
              <a:buNone/>
            </a:pPr>
            <a:r>
              <a:rPr b="0" i="0" lang="en-US" sz="986" u="none" cap="none" strike="noStrike">
                <a:solidFill>
                  <a:srgbClr val="E3D6FA"/>
                </a:solidFill>
                <a:latin typeface="Calibri"/>
                <a:ea typeface="Calibri"/>
                <a:cs typeface="Calibri"/>
                <a:sym typeface="Calibri"/>
              </a:rPr>
              <a:t>the widest exposure window</a:t>
            </a:r>
            <a:endParaRPr b="0" i="0" sz="98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640075" y="4186530"/>
            <a:ext cx="1973700" cy="2104800"/>
          </a:xfrm>
          <a:prstGeom prst="rect">
            <a:avLst/>
          </a:prstGeom>
          <a:solidFill>
            <a:srgbClr val="4C2A94"/>
          </a:solidFill>
          <a:ln>
            <a:noFill/>
          </a:ln>
        </p:spPr>
        <p:txBody>
          <a:bodyPr anchorCtr="0" anchor="ctr" bIns="78350" lIns="78350" spcFirstLastPara="1" rIns="78350" wrap="square" tIns="78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 txBox="1"/>
          <p:nvPr/>
        </p:nvSpPr>
        <p:spPr>
          <a:xfrm>
            <a:off x="640075" y="4392881"/>
            <a:ext cx="1973700" cy="7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175" lIns="78350" spcFirstLastPara="1" rIns="78350" wrap="square" tIns="391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71"/>
              <a:buFont typeface="Cambria"/>
              <a:buNone/>
            </a:pPr>
            <a:r>
              <a:rPr b="1" i="0" lang="en-US" sz="2571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0–0.7%</a:t>
            </a:r>
            <a:endParaRPr b="0" i="0" sz="257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 txBox="1"/>
          <p:nvPr/>
        </p:nvSpPr>
        <p:spPr>
          <a:xfrm>
            <a:off x="747739" y="5177016"/>
            <a:ext cx="17583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175" lIns="78350" spcFirstLastPara="1" rIns="78350" wrap="square" tIns="39175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3D6FA"/>
              </a:buClr>
              <a:buSzPts val="986"/>
              <a:buFont typeface="Calibri"/>
              <a:buNone/>
            </a:pPr>
            <a:r>
              <a:rPr b="0" i="0" lang="en-US" sz="986" u="none" cap="none" strike="noStrike">
                <a:solidFill>
                  <a:srgbClr val="E3D6FA"/>
                </a:solidFill>
                <a:latin typeface="Calibri"/>
                <a:ea typeface="Calibri"/>
                <a:cs typeface="Calibri"/>
                <a:sym typeface="Calibri"/>
              </a:rPr>
              <a:t>ASR for instruction injection</a:t>
            </a:r>
            <a:endParaRPr b="0" i="0" sz="98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3D6FA"/>
              </a:buClr>
              <a:buSzPts val="986"/>
              <a:buFont typeface="Calibri"/>
              <a:buNone/>
            </a:pPr>
            <a:r>
              <a:rPr b="0" i="0" lang="en-US" sz="986" u="none" cap="none" strike="noStrike">
                <a:solidFill>
                  <a:srgbClr val="E3D6FA"/>
                </a:solidFill>
                <a:latin typeface="Calibri"/>
                <a:ea typeface="Calibri"/>
                <a:cs typeface="Calibri"/>
                <a:sym typeface="Calibri"/>
              </a:rPr>
              <a:t>against SOTA agent defenses</a:t>
            </a:r>
            <a:endParaRPr b="0" i="0" sz="98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2814889" y="4186529"/>
            <a:ext cx="1917900" cy="2104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78350" lIns="78350" spcFirstLastPara="1" rIns="78350" wrap="square" tIns="78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 txBox="1"/>
          <p:nvPr/>
        </p:nvSpPr>
        <p:spPr>
          <a:xfrm>
            <a:off x="2814895" y="4392881"/>
            <a:ext cx="1973700" cy="7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175" lIns="78350" spcFirstLastPara="1" rIns="78350" wrap="square" tIns="391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71"/>
              <a:buFont typeface="Cambria"/>
              <a:buNone/>
            </a:pPr>
            <a:r>
              <a:rPr b="1" i="0" lang="en-US" sz="2571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up to 50%</a:t>
            </a:r>
            <a:endParaRPr b="0" i="0" sz="257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 txBox="1"/>
          <p:nvPr/>
        </p:nvSpPr>
        <p:spPr>
          <a:xfrm>
            <a:off x="2922560" y="5177016"/>
            <a:ext cx="17583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175" lIns="78350" spcFirstLastPara="1" rIns="78350" wrap="square" tIns="39175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3D6FA"/>
              </a:buClr>
              <a:buSzPts val="986"/>
              <a:buFont typeface="Calibri"/>
              <a:buNone/>
            </a:pPr>
            <a:r>
              <a:rPr b="0" i="0" lang="en-US" sz="986" u="none" cap="none" strike="noStrike">
                <a:solidFill>
                  <a:srgbClr val="E3D6FA"/>
                </a:solidFill>
                <a:latin typeface="Calibri"/>
                <a:ea typeface="Calibri"/>
                <a:cs typeface="Calibri"/>
                <a:sym typeface="Calibri"/>
              </a:rPr>
              <a:t>ASR for ADI specifically —</a:t>
            </a:r>
            <a:endParaRPr b="0" i="0" sz="98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3D6FA"/>
              </a:buClr>
              <a:buSzPts val="986"/>
              <a:buFont typeface="Calibri"/>
              <a:buNone/>
            </a:pPr>
            <a:r>
              <a:rPr b="0" i="0" lang="en-US" sz="986" u="none" cap="none" strike="noStrike">
                <a:solidFill>
                  <a:srgbClr val="E3D6FA"/>
                </a:solidFill>
                <a:latin typeface="Calibri"/>
                <a:ea typeface="Calibri"/>
                <a:cs typeface="Calibri"/>
                <a:sym typeface="Calibri"/>
              </a:rPr>
              <a:t>against those same defenses</a:t>
            </a:r>
            <a:endParaRPr b="0" i="0" sz="98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3" name="Google Shape;73;p5" title="WhatsApp Image 2026-09-20 at 12.25.13 PM (1)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33975" y="1883650"/>
            <a:ext cx="6679874" cy="2036137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5" title="WhatsApp Image 2026-09-20 at 12.25.13 PM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33975" y="4101400"/>
            <a:ext cx="6679873" cy="218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11000232" y="63550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B456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B4560"/>
                </a:solidFill>
                <a:latin typeface="Calibri"/>
                <a:ea typeface="Calibri"/>
                <a:cs typeface="Calibri"/>
                <a:sym typeface="Calibri"/>
              </a:rPr>
              <a:t>04 / 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 txBox="1"/>
          <p:nvPr/>
        </p:nvSpPr>
        <p:spPr>
          <a:xfrm>
            <a:off x="640080" y="4251960"/>
            <a:ext cx="10881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B4560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4B4560"/>
                </a:solidFill>
                <a:latin typeface="Calibri"/>
                <a:ea typeface="Calibri"/>
                <a:cs typeface="Calibri"/>
                <a:sym typeface="Calibri"/>
              </a:rPr>
              <a:t>No published defense separates the two at the field level with a constrained, non-LLM detector. IPIGuard restricts which tools are reachable but never checks whether the data inside an allowed call is genuinely what it claims to be.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 txBox="1"/>
          <p:nvPr/>
        </p:nvSpPr>
        <p:spPr>
          <a:xfrm>
            <a:off x="640080" y="5257800"/>
            <a:ext cx="10881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3B1670"/>
                </a:solidFill>
                <a:latin typeface="Calibri"/>
                <a:ea typeface="Calibri"/>
                <a:cs typeface="Calibri"/>
                <a:sym typeface="Calibri"/>
              </a:rPr>
              <a:t>This project is scoped to that specific gap — provenance forgery and structural mimicry at the tool-call boundary — not a general-purpose IPI defense.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 txBox="1"/>
          <p:nvPr/>
        </p:nvSpPr>
        <p:spPr>
          <a:xfrm>
            <a:off x="640080" y="749808"/>
            <a:ext cx="9601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22B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8122B"/>
                </a:solidFill>
                <a:latin typeface="Cambria"/>
                <a:ea typeface="Cambria"/>
                <a:cs typeface="Cambria"/>
                <a:sym typeface="Cambria"/>
              </a:rPr>
              <a:t>Two kinds of trust get treated as one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640080" y="1691640"/>
            <a:ext cx="5074800" cy="2286000"/>
          </a:xfrm>
          <a:prstGeom prst="rect">
            <a:avLst/>
          </a:prstGeom>
          <a:solidFill>
            <a:srgbClr val="FBF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 txBox="1"/>
          <p:nvPr/>
        </p:nvSpPr>
        <p:spPr>
          <a:xfrm>
            <a:off x="914400" y="1874520"/>
            <a:ext cx="452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B7791F"/>
                </a:solidFill>
                <a:latin typeface="Cambria"/>
                <a:ea typeface="Cambria"/>
                <a:cs typeface="Cambria"/>
                <a:sym typeface="Cambria"/>
              </a:rPr>
              <a:t>Content-trust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 txBox="1"/>
          <p:nvPr/>
        </p:nvSpPr>
        <p:spPr>
          <a:xfrm>
            <a:off x="914400" y="2286000"/>
            <a:ext cx="452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122B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18122B"/>
                </a:solidFill>
                <a:latin typeface="Calibri"/>
                <a:ea typeface="Calibri"/>
                <a:cs typeface="Calibri"/>
                <a:sym typeface="Calibri"/>
              </a:rPr>
              <a:t>Does this field look adversarial?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 txBox="1"/>
          <p:nvPr/>
        </p:nvSpPr>
        <p:spPr>
          <a:xfrm>
            <a:off x="914400" y="2788920"/>
            <a:ext cx="45264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B456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B4560"/>
                </a:solidFill>
                <a:latin typeface="Calibri"/>
                <a:ea typeface="Calibri"/>
                <a:cs typeface="Calibri"/>
                <a:sym typeface="Calibri"/>
              </a:rPr>
              <a:t>Existing defenses inspect this — prompting-based filters, LLM-as-judge, structural classifiers.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5989320" y="1691640"/>
            <a:ext cx="5074800" cy="2286000"/>
          </a:xfrm>
          <a:prstGeom prst="rect">
            <a:avLst/>
          </a:prstGeom>
          <a:solidFill>
            <a:srgbClr val="F3EE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6"/>
          <p:cNvSpPr txBox="1"/>
          <p:nvPr/>
        </p:nvSpPr>
        <p:spPr>
          <a:xfrm>
            <a:off x="6263640" y="1874520"/>
            <a:ext cx="452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7C3AED"/>
                </a:solidFill>
                <a:latin typeface="Cambria"/>
                <a:ea typeface="Cambria"/>
                <a:cs typeface="Cambria"/>
                <a:sym typeface="Cambria"/>
              </a:rPr>
              <a:t>Provenance-trust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 txBox="1"/>
          <p:nvPr/>
        </p:nvSpPr>
        <p:spPr>
          <a:xfrm>
            <a:off x="6263640" y="2286000"/>
            <a:ext cx="452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122B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18122B"/>
                </a:solidFill>
                <a:latin typeface="Calibri"/>
                <a:ea typeface="Calibri"/>
                <a:cs typeface="Calibri"/>
                <a:sym typeface="Calibri"/>
              </a:rPr>
              <a:t>Is this field's trust label authentic?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 txBox="1"/>
          <p:nvPr/>
        </p:nvSpPr>
        <p:spPr>
          <a:xfrm>
            <a:off x="6263640" y="2788920"/>
            <a:ext cx="45264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B456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B4560"/>
                </a:solidFill>
                <a:latin typeface="Calibri"/>
                <a:ea typeface="Calibri"/>
                <a:cs typeface="Calibri"/>
                <a:sym typeface="Calibri"/>
              </a:rPr>
              <a:t>Almost nothing validates this. A forged tag that claims to be system-issued is simply believed.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7"/>
          <p:cNvSpPr txBox="1"/>
          <p:nvPr/>
        </p:nvSpPr>
        <p:spPr>
          <a:xfrm>
            <a:off x="640080" y="457200"/>
            <a:ext cx="73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 txBox="1"/>
          <p:nvPr/>
        </p:nvSpPr>
        <p:spPr>
          <a:xfrm>
            <a:off x="640080" y="749808"/>
            <a:ext cx="9601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22B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8122B"/>
                </a:solidFill>
                <a:latin typeface="Cambria"/>
                <a:ea typeface="Cambria"/>
                <a:cs typeface="Cambria"/>
                <a:sym typeface="Cambria"/>
              </a:rPr>
              <a:t>Two kinds of trust get treated as one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11000232" y="6355080"/>
            <a:ext cx="914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B456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B4560"/>
                </a:solidFill>
                <a:latin typeface="Calibri"/>
                <a:ea typeface="Calibri"/>
                <a:cs typeface="Calibri"/>
                <a:sym typeface="Calibri"/>
              </a:rPr>
              <a:t>04 / 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" name="Google Shape;101;p7" title="WhatsApp Image 2026-09-20 at 12.26.09 PM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7175" y="2304325"/>
            <a:ext cx="5533649" cy="385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7" title="WhatsApp Image 2026-09-20 at 12.25.44 PM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40825" y="2304325"/>
            <a:ext cx="5927501" cy="385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AIMS &amp; OBJECTIVES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8"/>
          <p:cNvSpPr txBox="1"/>
          <p:nvPr/>
        </p:nvSpPr>
        <p:spPr>
          <a:xfrm>
            <a:off x="640080" y="749808"/>
            <a:ext cx="9601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22B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8122B"/>
                </a:solidFill>
                <a:latin typeface="Cambria"/>
                <a:ea typeface="Cambria"/>
                <a:cs typeface="Cambria"/>
                <a:sym typeface="Cambria"/>
              </a:rPr>
              <a:t>What FYP-I sets out to build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8"/>
          <p:cNvSpPr/>
          <p:nvPr/>
        </p:nvSpPr>
        <p:spPr>
          <a:xfrm>
            <a:off x="11000232" y="63550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B456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B4560"/>
                </a:solidFill>
                <a:latin typeface="Calibri"/>
                <a:ea typeface="Calibri"/>
                <a:cs typeface="Calibri"/>
                <a:sym typeface="Calibri"/>
              </a:rPr>
              <a:t>05 / 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8"/>
          <p:cNvSpPr/>
          <p:nvPr/>
        </p:nvSpPr>
        <p:spPr>
          <a:xfrm>
            <a:off x="640080" y="169164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8"/>
          <p:cNvSpPr txBox="1"/>
          <p:nvPr/>
        </p:nvSpPr>
        <p:spPr>
          <a:xfrm>
            <a:off x="640080" y="16916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8"/>
          <p:cNvSpPr txBox="1"/>
          <p:nvPr/>
        </p:nvSpPr>
        <p:spPr>
          <a:xfrm>
            <a:off x="1280160" y="1664208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122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8122B"/>
                </a:solidFill>
                <a:latin typeface="Calibri"/>
                <a:ea typeface="Calibri"/>
                <a:cs typeface="Calibri"/>
                <a:sym typeface="Calibri"/>
              </a:rPr>
              <a:t>Three-stage pipeline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8"/>
          <p:cNvSpPr txBox="1"/>
          <p:nvPr/>
        </p:nvSpPr>
        <p:spPr>
          <a:xfrm>
            <a:off x="1280160" y="2103120"/>
            <a:ext cx="45720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B456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B4560"/>
                </a:solidFill>
                <a:latin typeface="Calibri"/>
                <a:ea typeface="Calibri"/>
                <a:cs typeface="Calibri"/>
                <a:sym typeface="Calibri"/>
              </a:rPr>
              <a:t>Deterministic parser →tag-based provenance mapping (field-level trust-provenance graph) → constrained non-LLM classifier, intercepting proposed tool calls before execution.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8"/>
          <p:cNvSpPr/>
          <p:nvPr/>
        </p:nvSpPr>
        <p:spPr>
          <a:xfrm>
            <a:off x="6309360" y="169164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8"/>
          <p:cNvSpPr txBox="1"/>
          <p:nvPr/>
        </p:nvSpPr>
        <p:spPr>
          <a:xfrm>
            <a:off x="6309360" y="16916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8"/>
          <p:cNvSpPr txBox="1"/>
          <p:nvPr/>
        </p:nvSpPr>
        <p:spPr>
          <a:xfrm>
            <a:off x="6949440" y="1664208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122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8122B"/>
                </a:solidFill>
                <a:latin typeface="Calibri"/>
                <a:ea typeface="Calibri"/>
                <a:cs typeface="Calibri"/>
                <a:sym typeface="Calibri"/>
              </a:rPr>
              <a:t>Risk-scoring gate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8"/>
          <p:cNvSpPr txBox="1"/>
          <p:nvPr/>
        </p:nvSpPr>
        <p:spPr>
          <a:xfrm>
            <a:off x="6949440" y="2103120"/>
            <a:ext cx="45720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B456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B4560"/>
                </a:solidFill>
                <a:latin typeface="Calibri"/>
                <a:ea typeface="Calibri"/>
                <a:cs typeface="Calibri"/>
                <a:sym typeface="Calibri"/>
              </a:rPr>
              <a:t>risk = confidence × impact, where impact is a fixed per-tool-type severity tier — so a moderately confident hit on a high-impact action still escalates.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8"/>
          <p:cNvSpPr/>
          <p:nvPr/>
        </p:nvSpPr>
        <p:spPr>
          <a:xfrm>
            <a:off x="640080" y="406908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8"/>
          <p:cNvSpPr txBox="1"/>
          <p:nvPr/>
        </p:nvSpPr>
        <p:spPr>
          <a:xfrm>
            <a:off x="640080" y="40690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8"/>
          <p:cNvSpPr txBox="1"/>
          <p:nvPr/>
        </p:nvSpPr>
        <p:spPr>
          <a:xfrm>
            <a:off x="1280160" y="4041648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122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8122B"/>
                </a:solidFill>
                <a:latin typeface="Calibri"/>
                <a:ea typeface="Calibri"/>
                <a:cs typeface="Calibri"/>
                <a:sym typeface="Calibri"/>
              </a:rPr>
              <a:t>Human-in-the-loop panel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8"/>
          <p:cNvSpPr txBox="1"/>
          <p:nvPr/>
        </p:nvSpPr>
        <p:spPr>
          <a:xfrm>
            <a:off x="1280160" y="4480560"/>
            <a:ext cx="45720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B456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B4560"/>
                </a:solidFill>
                <a:latin typeface="Calibri"/>
                <a:ea typeface="Calibri"/>
                <a:cs typeface="Calibri"/>
                <a:sym typeface="Calibri"/>
              </a:rPr>
              <a:t>Deterministic templating (no LLM) presents the query, the proposed call, the untrusted content, its provenance, and classifier confidence — allow, deny, modify, allow-once, or evidence-only.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8"/>
          <p:cNvSpPr/>
          <p:nvPr/>
        </p:nvSpPr>
        <p:spPr>
          <a:xfrm>
            <a:off x="6309360" y="406908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"/>
          <p:cNvSpPr txBox="1"/>
          <p:nvPr/>
        </p:nvSpPr>
        <p:spPr>
          <a:xfrm>
            <a:off x="6309360" y="40690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8"/>
          <p:cNvSpPr txBox="1"/>
          <p:nvPr/>
        </p:nvSpPr>
        <p:spPr>
          <a:xfrm>
            <a:off x="6949440" y="4041648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122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8122B"/>
                </a:solidFill>
                <a:latin typeface="Calibri"/>
                <a:ea typeface="Calibri"/>
                <a:cs typeface="Calibri"/>
                <a:sym typeface="Calibri"/>
              </a:rPr>
              <a:t>Benchmark evaluation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8"/>
          <p:cNvSpPr txBox="1"/>
          <p:nvPr/>
        </p:nvSpPr>
        <p:spPr>
          <a:xfrm>
            <a:off x="6949440" y="4480560"/>
            <a:ext cx="45720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B456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B4560"/>
                </a:solidFill>
                <a:latin typeface="Calibri"/>
                <a:ea typeface="Calibri"/>
                <a:cs typeface="Calibri"/>
                <a:sym typeface="Calibri"/>
              </a:rPr>
              <a:t>AgentDojo as primary benchmark, InjecAgent as supporting, against ASR, Benign Utility, Utility Under Attack, FPR, FNR, and Human Approval Accuracy.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SCOPE OF THE PROJECT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9"/>
          <p:cNvSpPr txBox="1"/>
          <p:nvPr/>
        </p:nvSpPr>
        <p:spPr>
          <a:xfrm>
            <a:off x="640074" y="749800"/>
            <a:ext cx="10792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22B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8122B"/>
                </a:solidFill>
                <a:latin typeface="Cambria"/>
                <a:ea typeface="Cambria"/>
                <a:cs typeface="Cambria"/>
                <a:sym typeface="Cambria"/>
              </a:rPr>
              <a:t>What FYP</a:t>
            </a:r>
            <a:r>
              <a:rPr b="1" i="0" lang="en-US" sz="3200" u="none" cap="none" strike="noStrike">
                <a:solidFill>
                  <a:srgbClr val="18122B"/>
                </a:solidFill>
                <a:latin typeface="Cambria"/>
                <a:ea typeface="Cambria"/>
                <a:cs typeface="Cambria"/>
                <a:sym typeface="Cambria"/>
              </a:rPr>
              <a:t>-</a:t>
            </a:r>
            <a:r>
              <a:rPr b="1" i="0" lang="en-US" sz="3200" u="none" cap="none" strike="noStrike">
                <a:solidFill>
                  <a:srgbClr val="18122B"/>
                </a:solidFill>
                <a:latin typeface="Cambria"/>
                <a:ea typeface="Cambria"/>
                <a:cs typeface="Cambria"/>
                <a:sym typeface="Cambria"/>
              </a:rPr>
              <a:t>I covers </a:t>
            </a:r>
            <a:r>
              <a:rPr b="1" lang="en-US" sz="3200">
                <a:solidFill>
                  <a:srgbClr val="18122B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r>
              <a:rPr b="1" i="0" lang="en-US" sz="3200" u="none" cap="none" strike="noStrike">
                <a:solidFill>
                  <a:srgbClr val="18122B"/>
                </a:solidFill>
                <a:latin typeface="Cambria"/>
                <a:ea typeface="Cambria"/>
                <a:cs typeface="Cambria"/>
                <a:sym typeface="Cambria"/>
              </a:rPr>
              <a:t>nd what it deliberately doesn't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9"/>
          <p:cNvSpPr/>
          <p:nvPr/>
        </p:nvSpPr>
        <p:spPr>
          <a:xfrm>
            <a:off x="11000232" y="63550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B456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B4560"/>
                </a:solidFill>
                <a:latin typeface="Calibri"/>
                <a:ea typeface="Calibri"/>
                <a:cs typeface="Calibri"/>
                <a:sym typeface="Calibri"/>
              </a:rPr>
              <a:t>06 / 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9"/>
          <p:cNvSpPr/>
          <p:nvPr/>
        </p:nvSpPr>
        <p:spPr>
          <a:xfrm>
            <a:off x="640080" y="1691640"/>
            <a:ext cx="5212080" cy="4206240"/>
          </a:xfrm>
          <a:prstGeom prst="rect">
            <a:avLst/>
          </a:prstGeom>
          <a:solidFill>
            <a:srgbClr val="F3EE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9"/>
          <p:cNvSpPr txBox="1"/>
          <p:nvPr/>
        </p:nvSpPr>
        <p:spPr>
          <a:xfrm>
            <a:off x="914400" y="1874520"/>
            <a:ext cx="4663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3B1670"/>
                </a:solidFill>
                <a:latin typeface="Cambria"/>
                <a:ea typeface="Cambria"/>
                <a:cs typeface="Cambria"/>
                <a:sym typeface="Cambria"/>
              </a:rPr>
              <a:t>In scope for FYP-I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9"/>
          <p:cNvSpPr/>
          <p:nvPr/>
        </p:nvSpPr>
        <p:spPr>
          <a:xfrm>
            <a:off x="932688" y="2505456"/>
            <a:ext cx="82296" cy="82296"/>
          </a:xfrm>
          <a:prstGeom prst="ellipse">
            <a:avLst/>
          </a:prstGeom>
          <a:solidFill>
            <a:srgbClr val="3B16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9"/>
          <p:cNvSpPr txBox="1"/>
          <p:nvPr/>
        </p:nvSpPr>
        <p:spPr>
          <a:xfrm>
            <a:off x="1143000" y="2423160"/>
            <a:ext cx="4434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22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8122B"/>
                </a:solidFill>
                <a:latin typeface="Calibri"/>
                <a:ea typeface="Calibri"/>
                <a:cs typeface="Calibri"/>
                <a:sym typeface="Calibri"/>
              </a:rPr>
              <a:t>JSON-format tool responses (primary field type)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9"/>
          <p:cNvSpPr/>
          <p:nvPr/>
        </p:nvSpPr>
        <p:spPr>
          <a:xfrm>
            <a:off x="932688" y="3191256"/>
            <a:ext cx="82296" cy="82296"/>
          </a:xfrm>
          <a:prstGeom prst="ellipse">
            <a:avLst/>
          </a:prstGeom>
          <a:solidFill>
            <a:srgbClr val="3B16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9"/>
          <p:cNvSpPr txBox="1"/>
          <p:nvPr/>
        </p:nvSpPr>
        <p:spPr>
          <a:xfrm>
            <a:off x="1143000" y="3108960"/>
            <a:ext cx="4434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22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8122B"/>
                </a:solidFill>
                <a:latin typeface="Calibri"/>
                <a:ea typeface="Calibri"/>
                <a:cs typeface="Calibri"/>
                <a:sym typeface="Calibri"/>
              </a:rPr>
              <a:t>Deterministic parser, provenance tagging, field-level trust graph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9"/>
          <p:cNvSpPr/>
          <p:nvPr/>
        </p:nvSpPr>
        <p:spPr>
          <a:xfrm>
            <a:off x="932688" y="3877056"/>
            <a:ext cx="82296" cy="82296"/>
          </a:xfrm>
          <a:prstGeom prst="ellipse">
            <a:avLst/>
          </a:prstGeom>
          <a:solidFill>
            <a:srgbClr val="3B16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9"/>
          <p:cNvSpPr txBox="1"/>
          <p:nvPr/>
        </p:nvSpPr>
        <p:spPr>
          <a:xfrm>
            <a:off x="1143000" y="3794760"/>
            <a:ext cx="4434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22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8122B"/>
                </a:solidFill>
                <a:latin typeface="Calibri"/>
                <a:ea typeface="Calibri"/>
                <a:cs typeface="Calibri"/>
                <a:sym typeface="Calibri"/>
              </a:rPr>
              <a:t>Constrained non-LLM classifier over graph-derived features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9"/>
          <p:cNvSpPr/>
          <p:nvPr/>
        </p:nvSpPr>
        <p:spPr>
          <a:xfrm>
            <a:off x="932688" y="4562856"/>
            <a:ext cx="82296" cy="82296"/>
          </a:xfrm>
          <a:prstGeom prst="ellipse">
            <a:avLst/>
          </a:prstGeom>
          <a:solidFill>
            <a:srgbClr val="3B16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9"/>
          <p:cNvSpPr txBox="1"/>
          <p:nvPr/>
        </p:nvSpPr>
        <p:spPr>
          <a:xfrm>
            <a:off x="1143000" y="4480560"/>
            <a:ext cx="4434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22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8122B"/>
                </a:solidFill>
                <a:latin typeface="Calibri"/>
                <a:ea typeface="Calibri"/>
                <a:cs typeface="Calibri"/>
                <a:sym typeface="Calibri"/>
              </a:rPr>
              <a:t>Risk-based execution gate with tiered human review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9"/>
          <p:cNvSpPr/>
          <p:nvPr/>
        </p:nvSpPr>
        <p:spPr>
          <a:xfrm>
            <a:off x="932688" y="5248656"/>
            <a:ext cx="82296" cy="82296"/>
          </a:xfrm>
          <a:prstGeom prst="ellipse">
            <a:avLst/>
          </a:prstGeom>
          <a:solidFill>
            <a:srgbClr val="3B16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9"/>
          <p:cNvSpPr txBox="1"/>
          <p:nvPr/>
        </p:nvSpPr>
        <p:spPr>
          <a:xfrm>
            <a:off x="1143000" y="5166360"/>
            <a:ext cx="4434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22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8122B"/>
                </a:solidFill>
                <a:latin typeface="Calibri"/>
                <a:ea typeface="Calibri"/>
                <a:cs typeface="Calibri"/>
                <a:sym typeface="Calibri"/>
              </a:rPr>
              <a:t>AgentDojo (primary) + InjecAgent (supporting) evaluation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9"/>
          <p:cNvSpPr/>
          <p:nvPr/>
        </p:nvSpPr>
        <p:spPr>
          <a:xfrm>
            <a:off x="6309360" y="1691640"/>
            <a:ext cx="5212080" cy="4206240"/>
          </a:xfrm>
          <a:prstGeom prst="rect">
            <a:avLst/>
          </a:prstGeom>
          <a:solidFill>
            <a:srgbClr val="FBED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9"/>
          <p:cNvSpPr txBox="1"/>
          <p:nvPr/>
        </p:nvSpPr>
        <p:spPr>
          <a:xfrm>
            <a:off x="6583680" y="1874520"/>
            <a:ext cx="4663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C0392B"/>
                </a:solidFill>
                <a:latin typeface="Cambria"/>
                <a:ea typeface="Cambria"/>
                <a:cs typeface="Cambria"/>
                <a:sym typeface="Cambria"/>
              </a:rPr>
              <a:t>Explicitly out of scope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9"/>
          <p:cNvSpPr/>
          <p:nvPr/>
        </p:nvSpPr>
        <p:spPr>
          <a:xfrm>
            <a:off x="6601968" y="2505456"/>
            <a:ext cx="82296" cy="82296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9"/>
          <p:cNvSpPr txBox="1"/>
          <p:nvPr/>
        </p:nvSpPr>
        <p:spPr>
          <a:xfrm>
            <a:off x="6812280" y="2423160"/>
            <a:ext cx="4434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22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8122B"/>
                </a:solidFill>
                <a:latin typeface="Calibri"/>
                <a:ea typeface="Calibri"/>
                <a:cs typeface="Calibri"/>
                <a:sym typeface="Calibri"/>
              </a:rPr>
              <a:t>Memory / cross-session persistence injection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6601968" y="3191256"/>
            <a:ext cx="82296" cy="82296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9"/>
          <p:cNvSpPr txBox="1"/>
          <p:nvPr/>
        </p:nvSpPr>
        <p:spPr>
          <a:xfrm>
            <a:off x="6812280" y="3108960"/>
            <a:ext cx="4434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22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8122B"/>
                </a:solidFill>
                <a:latin typeface="Calibri"/>
                <a:ea typeface="Calibri"/>
                <a:cs typeface="Calibri"/>
                <a:sym typeface="Calibri"/>
              </a:rPr>
              <a:t>Unstructured prose injection outside the tagged-field model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6601968" y="3877056"/>
            <a:ext cx="82296" cy="82296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9"/>
          <p:cNvSpPr txBox="1"/>
          <p:nvPr/>
        </p:nvSpPr>
        <p:spPr>
          <a:xfrm>
            <a:off x="6812280" y="3794760"/>
            <a:ext cx="4434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22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8122B"/>
                </a:solidFill>
                <a:latin typeface="Calibri"/>
                <a:ea typeface="Calibri"/>
                <a:cs typeface="Calibri"/>
                <a:sym typeface="Calibri"/>
              </a:rPr>
              <a:t>Vision-based attack vectors (e.g. fake CAPTCHAs)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9"/>
          <p:cNvSpPr/>
          <p:nvPr/>
        </p:nvSpPr>
        <p:spPr>
          <a:xfrm>
            <a:off x="6601968" y="4562856"/>
            <a:ext cx="82296" cy="82296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9"/>
          <p:cNvSpPr txBox="1"/>
          <p:nvPr/>
        </p:nvSpPr>
        <p:spPr>
          <a:xfrm>
            <a:off x="6812280" y="4480560"/>
            <a:ext cx="4434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22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8122B"/>
                </a:solidFill>
                <a:latin typeface="Calibri"/>
                <a:ea typeface="Calibri"/>
                <a:cs typeface="Calibri"/>
                <a:sym typeface="Calibri"/>
              </a:rPr>
              <a:t>Multi-hop injection split across sequential calls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6601968" y="5248656"/>
            <a:ext cx="82296" cy="82296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9"/>
          <p:cNvSpPr txBox="1"/>
          <p:nvPr/>
        </p:nvSpPr>
        <p:spPr>
          <a:xfrm>
            <a:off x="6812280" y="5166360"/>
            <a:ext cx="4434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22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8122B"/>
                </a:solidFill>
                <a:latin typeface="Calibri"/>
                <a:ea typeface="Calibri"/>
                <a:cs typeface="Calibri"/>
                <a:sym typeface="Calibri"/>
              </a:rPr>
              <a:t>MCP transport-layer interception (deferred to FYP-II)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LITERATURE REVIEW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0"/>
          <p:cNvSpPr txBox="1"/>
          <p:nvPr/>
        </p:nvSpPr>
        <p:spPr>
          <a:xfrm>
            <a:off x="640080" y="749808"/>
            <a:ext cx="9601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22B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8122B"/>
                </a:solidFill>
                <a:latin typeface="Cambria"/>
                <a:ea typeface="Cambria"/>
                <a:cs typeface="Cambria"/>
                <a:sym typeface="Cambria"/>
              </a:rPr>
              <a:t>Where this project sits relative to prior defenses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0"/>
          <p:cNvSpPr/>
          <p:nvPr/>
        </p:nvSpPr>
        <p:spPr>
          <a:xfrm>
            <a:off x="11000232" y="63550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B456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B4560"/>
                </a:solidFill>
                <a:latin typeface="Calibri"/>
                <a:ea typeface="Calibri"/>
                <a:cs typeface="Calibri"/>
                <a:sym typeface="Calibri"/>
              </a:rPr>
              <a:t>07 / 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7" name="Google Shape;167;p10"/>
          <p:cNvGraphicFramePr/>
          <p:nvPr/>
        </p:nvGraphicFramePr>
        <p:xfrm>
          <a:off x="640080" y="17373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{89A8B7E2-F705-44A5-A6D5-286A8FD80680}</a:tableStyleId>
              </a:tblPr>
              <a:tblGrid>
                <a:gridCol w="1554475"/>
                <a:gridCol w="3200400"/>
                <a:gridCol w="3017525"/>
                <a:gridCol w="310895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Work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Mechanism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Result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Gap this project targets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C3AED"/>
                    </a:solidFill>
                  </a:tcPr>
                </a:tc>
              </a:tr>
              <a:tr h="960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8122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812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IPIGuard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8122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812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Tool Dependency Graph — call reachability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8122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812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Reduces reachable out-of-plan calls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8122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812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Never validates provenance of data inside an allowed call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960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8122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812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CaMeL</a:t>
                      </a:r>
                      <a:endParaRPr sz="1150" u="none" cap="none" strike="noStrike">
                        <a:solidFill>
                          <a:srgbClr val="18122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8122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>
                          <a:solidFill>
                            <a:srgbClr val="1812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(Capability-based Mechanism for LLMs) </a:t>
                      </a:r>
                      <a:endParaRPr sz="1150">
                        <a:solidFill>
                          <a:srgbClr val="18122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8122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812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Privileged / quarantined LLM split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8122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812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77% AgentDojo tasks solved (84% undefended)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8122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812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Requires hand-specified policy per data flow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C"/>
                    </a:solidFill>
                  </a:tcPr>
                </a:tc>
              </a:tr>
              <a:tr h="960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8122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812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Task Shield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8122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812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LLM-judged task-alignment check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8122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812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2.07% ASR, 69.8% utility (GPT-4o)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8122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812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Alignment judgment is itself LLM-mediated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960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8122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812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MELON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8122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812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Masked re-execution, trajectory compare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8122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812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Detects action-dominance shift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8122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812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Detects the effect of hijack, not provenance forgery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1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PROPOSED METHODOLOGY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1"/>
          <p:cNvSpPr txBox="1"/>
          <p:nvPr/>
        </p:nvSpPr>
        <p:spPr>
          <a:xfrm>
            <a:off x="640080" y="749808"/>
            <a:ext cx="9601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22B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8122B"/>
                </a:solidFill>
                <a:latin typeface="Cambria"/>
                <a:ea typeface="Cambria"/>
                <a:cs typeface="Cambria"/>
                <a:sym typeface="Cambria"/>
              </a:rPr>
              <a:t>A detector sitting between the agent and its tools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1"/>
          <p:cNvSpPr/>
          <p:nvPr/>
        </p:nvSpPr>
        <p:spPr>
          <a:xfrm>
            <a:off x="11000232" y="63550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B456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B4560"/>
                </a:solidFill>
                <a:latin typeface="Calibri"/>
                <a:ea typeface="Calibri"/>
                <a:cs typeface="Calibri"/>
                <a:sym typeface="Calibri"/>
              </a:rPr>
              <a:t>08 / 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1"/>
          <p:cNvSpPr txBox="1"/>
          <p:nvPr/>
        </p:nvSpPr>
        <p:spPr>
          <a:xfrm>
            <a:off x="640080" y="1600200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456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B4560"/>
                </a:solidFill>
                <a:latin typeface="Calibri"/>
                <a:ea typeface="Calibri"/>
                <a:cs typeface="Calibri"/>
                <a:sym typeface="Calibri"/>
              </a:rPr>
              <a:t>The agent's own reasoning loop is untouched  the Detector Agent intercepts both the outgoing proposed call and the incoming tool response, since untrusted content can enter at either point.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1"/>
          <p:cNvSpPr/>
          <p:nvPr/>
        </p:nvSpPr>
        <p:spPr>
          <a:xfrm>
            <a:off x="640080" y="2514600"/>
            <a:ext cx="1280160" cy="1051560"/>
          </a:xfrm>
          <a:prstGeom prst="rect">
            <a:avLst/>
          </a:prstGeom>
          <a:solidFill>
            <a:srgbClr val="F3EE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1"/>
          <p:cNvSpPr txBox="1"/>
          <p:nvPr/>
        </p:nvSpPr>
        <p:spPr>
          <a:xfrm>
            <a:off x="713232" y="25603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1"/>
          <p:cNvSpPr txBox="1"/>
          <p:nvPr/>
        </p:nvSpPr>
        <p:spPr>
          <a:xfrm>
            <a:off x="640080" y="2770632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3B1670"/>
                </a:solidFill>
                <a:latin typeface="Cambria"/>
                <a:ea typeface="Cambria"/>
                <a:cs typeface="Cambria"/>
                <a:sym typeface="Cambria"/>
              </a:rPr>
              <a:t>Clone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1"/>
          <p:cNvSpPr txBox="1"/>
          <p:nvPr/>
        </p:nvSpPr>
        <p:spPr>
          <a:xfrm>
            <a:off x="1920240" y="2514600"/>
            <a:ext cx="3200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456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4B456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1"/>
          <p:cNvSpPr txBox="1"/>
          <p:nvPr/>
        </p:nvSpPr>
        <p:spPr>
          <a:xfrm>
            <a:off x="548640" y="3749040"/>
            <a:ext cx="1463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4B456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B4560"/>
                </a:solidFill>
                <a:latin typeface="Calibri"/>
                <a:ea typeface="Calibri"/>
                <a:cs typeface="Calibri"/>
                <a:sym typeface="Calibri"/>
              </a:rPr>
              <a:t>Call cloned &amp; logged with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4B456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B4560"/>
                </a:solidFill>
                <a:latin typeface="Calibri"/>
                <a:ea typeface="Calibri"/>
                <a:cs typeface="Calibri"/>
                <a:sym typeface="Calibri"/>
              </a:rPr>
              <a:t>an internal-id (TVM)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1"/>
          <p:cNvSpPr/>
          <p:nvPr/>
        </p:nvSpPr>
        <p:spPr>
          <a:xfrm>
            <a:off x="2240280" y="2514600"/>
            <a:ext cx="1280160" cy="1051560"/>
          </a:xfrm>
          <a:prstGeom prst="rect">
            <a:avLst/>
          </a:prstGeom>
          <a:solidFill>
            <a:srgbClr val="F3EE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1"/>
          <p:cNvSpPr txBox="1"/>
          <p:nvPr/>
        </p:nvSpPr>
        <p:spPr>
          <a:xfrm>
            <a:off x="2313432" y="25603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1"/>
          <p:cNvSpPr txBox="1"/>
          <p:nvPr/>
        </p:nvSpPr>
        <p:spPr>
          <a:xfrm>
            <a:off x="2240280" y="2770632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3B1670"/>
                </a:solidFill>
                <a:latin typeface="Cambria"/>
                <a:ea typeface="Cambria"/>
                <a:cs typeface="Cambria"/>
                <a:sym typeface="Cambria"/>
              </a:rPr>
              <a:t>Parse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1"/>
          <p:cNvSpPr txBox="1"/>
          <p:nvPr/>
        </p:nvSpPr>
        <p:spPr>
          <a:xfrm>
            <a:off x="3520440" y="2514600"/>
            <a:ext cx="3200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456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4B456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1"/>
          <p:cNvSpPr txBox="1"/>
          <p:nvPr/>
        </p:nvSpPr>
        <p:spPr>
          <a:xfrm>
            <a:off x="2148840" y="3749040"/>
            <a:ext cx="1463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4B456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B4560"/>
                </a:solidFill>
                <a:latin typeface="Calibri"/>
                <a:ea typeface="Calibri"/>
                <a:cs typeface="Calibri"/>
                <a:sym typeface="Calibri"/>
              </a:rPr>
              <a:t>Deterministic, format-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4B456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B4560"/>
                </a:solidFill>
                <a:latin typeface="Calibri"/>
                <a:ea typeface="Calibri"/>
                <a:cs typeface="Calibri"/>
                <a:sym typeface="Calibri"/>
              </a:rPr>
              <a:t>specific parsing (JSON)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1"/>
          <p:cNvSpPr/>
          <p:nvPr/>
        </p:nvSpPr>
        <p:spPr>
          <a:xfrm>
            <a:off x="3840480" y="2514600"/>
            <a:ext cx="1280160" cy="1051560"/>
          </a:xfrm>
          <a:prstGeom prst="rect">
            <a:avLst/>
          </a:prstGeom>
          <a:solidFill>
            <a:srgbClr val="F3EE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1"/>
          <p:cNvSpPr txBox="1"/>
          <p:nvPr/>
        </p:nvSpPr>
        <p:spPr>
          <a:xfrm>
            <a:off x="3913632" y="25603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1"/>
          <p:cNvSpPr txBox="1"/>
          <p:nvPr/>
        </p:nvSpPr>
        <p:spPr>
          <a:xfrm>
            <a:off x="3840480" y="2770632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3B1670"/>
                </a:solidFill>
                <a:latin typeface="Cambria"/>
                <a:ea typeface="Cambria"/>
                <a:cs typeface="Cambria"/>
                <a:sym typeface="Cambria"/>
              </a:rPr>
              <a:t>Tag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1"/>
          <p:cNvSpPr txBox="1"/>
          <p:nvPr/>
        </p:nvSpPr>
        <p:spPr>
          <a:xfrm>
            <a:off x="5120640" y="2514600"/>
            <a:ext cx="3200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456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4B456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1"/>
          <p:cNvSpPr txBox="1"/>
          <p:nvPr/>
        </p:nvSpPr>
        <p:spPr>
          <a:xfrm>
            <a:off x="3749040" y="3749040"/>
            <a:ext cx="1463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4B456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B4560"/>
                </a:solidFill>
                <a:latin typeface="Calibri"/>
                <a:ea typeface="Calibri"/>
                <a:cs typeface="Calibri"/>
                <a:sym typeface="Calibri"/>
              </a:rPr>
              <a:t>Trusted</a:t>
            </a:r>
            <a:r>
              <a:rPr lang="en-US" sz="900">
                <a:solidFill>
                  <a:srgbClr val="4B4560"/>
                </a:solidFill>
                <a:latin typeface="Calibri"/>
                <a:ea typeface="Calibri"/>
                <a:cs typeface="Calibri"/>
                <a:sym typeface="Calibri"/>
              </a:rPr>
              <a:t> tag</a:t>
            </a:r>
            <a:r>
              <a:rPr b="0" i="0" lang="en-US" sz="900" u="none" cap="none" strike="noStrike">
                <a:solidFill>
                  <a:srgbClr val="4B4560"/>
                </a:solidFill>
                <a:latin typeface="Calibri"/>
                <a:ea typeface="Calibri"/>
                <a:cs typeface="Calibri"/>
                <a:sym typeface="Calibri"/>
              </a:rPr>
              <a:t> (system) 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4B456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B4560"/>
                </a:solidFill>
                <a:latin typeface="Calibri"/>
                <a:ea typeface="Calibri"/>
                <a:cs typeface="Calibri"/>
                <a:sym typeface="Calibri"/>
              </a:rPr>
              <a:t>Untrusted tag (human/external)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1"/>
          <p:cNvSpPr/>
          <p:nvPr/>
        </p:nvSpPr>
        <p:spPr>
          <a:xfrm>
            <a:off x="5440680" y="2514600"/>
            <a:ext cx="1280160" cy="1051560"/>
          </a:xfrm>
          <a:prstGeom prst="rect">
            <a:avLst/>
          </a:prstGeom>
          <a:solidFill>
            <a:srgbClr val="F3EE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1"/>
          <p:cNvSpPr txBox="1"/>
          <p:nvPr/>
        </p:nvSpPr>
        <p:spPr>
          <a:xfrm>
            <a:off x="5513832" y="25603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1"/>
          <p:cNvSpPr txBox="1"/>
          <p:nvPr/>
        </p:nvSpPr>
        <p:spPr>
          <a:xfrm>
            <a:off x="5440680" y="2770632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3B1670"/>
                </a:solidFill>
                <a:latin typeface="Cambria"/>
                <a:ea typeface="Cambria"/>
                <a:cs typeface="Cambria"/>
                <a:sym typeface="Cambria"/>
              </a:rPr>
              <a:t>Graph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1"/>
          <p:cNvSpPr txBox="1"/>
          <p:nvPr/>
        </p:nvSpPr>
        <p:spPr>
          <a:xfrm>
            <a:off x="6720840" y="2514600"/>
            <a:ext cx="3200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456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4B456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1"/>
          <p:cNvSpPr txBox="1"/>
          <p:nvPr/>
        </p:nvSpPr>
        <p:spPr>
          <a:xfrm>
            <a:off x="5349240" y="3749040"/>
            <a:ext cx="1463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4B456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B4560"/>
                </a:solidFill>
                <a:latin typeface="Calibri"/>
                <a:ea typeface="Calibri"/>
                <a:cs typeface="Calibri"/>
                <a:sym typeface="Calibri"/>
              </a:rPr>
              <a:t>Field-level &lt;T&gt;/&lt;UT&gt;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4B456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B4560"/>
                </a:solidFill>
                <a:latin typeface="Calibri"/>
                <a:ea typeface="Calibri"/>
                <a:cs typeface="Calibri"/>
                <a:sym typeface="Calibri"/>
              </a:rPr>
              <a:t>trust-provenance graph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1"/>
          <p:cNvSpPr/>
          <p:nvPr/>
        </p:nvSpPr>
        <p:spPr>
          <a:xfrm>
            <a:off x="7040880" y="2514600"/>
            <a:ext cx="1280160" cy="1051560"/>
          </a:xfrm>
          <a:prstGeom prst="rect">
            <a:avLst/>
          </a:prstGeom>
          <a:solidFill>
            <a:srgbClr val="F3EE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1"/>
          <p:cNvSpPr txBox="1"/>
          <p:nvPr/>
        </p:nvSpPr>
        <p:spPr>
          <a:xfrm>
            <a:off x="7114032" y="25603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1"/>
          <p:cNvSpPr txBox="1"/>
          <p:nvPr/>
        </p:nvSpPr>
        <p:spPr>
          <a:xfrm>
            <a:off x="7040880" y="2770632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3B1670"/>
                </a:solidFill>
                <a:latin typeface="Cambria"/>
                <a:ea typeface="Cambria"/>
                <a:cs typeface="Cambria"/>
                <a:sym typeface="Cambria"/>
              </a:rPr>
              <a:t>Classify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1"/>
          <p:cNvSpPr txBox="1"/>
          <p:nvPr/>
        </p:nvSpPr>
        <p:spPr>
          <a:xfrm>
            <a:off x="8321040" y="2514600"/>
            <a:ext cx="3200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456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4B456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1"/>
          <p:cNvSpPr txBox="1"/>
          <p:nvPr/>
        </p:nvSpPr>
        <p:spPr>
          <a:xfrm>
            <a:off x="6949440" y="3749040"/>
            <a:ext cx="1463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4B456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B4560"/>
                </a:solidFill>
                <a:latin typeface="Calibri"/>
                <a:ea typeface="Calibri"/>
                <a:cs typeface="Calibri"/>
                <a:sym typeface="Calibri"/>
              </a:rPr>
              <a:t>Constrained non-LLM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4B456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B4560"/>
                </a:solidFill>
                <a:latin typeface="Calibri"/>
                <a:ea typeface="Calibri"/>
                <a:cs typeface="Calibri"/>
                <a:sym typeface="Calibri"/>
              </a:rPr>
              <a:t>classifier on graph features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1"/>
          <p:cNvSpPr/>
          <p:nvPr/>
        </p:nvSpPr>
        <p:spPr>
          <a:xfrm>
            <a:off x="8641080" y="2514600"/>
            <a:ext cx="1280160" cy="10515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1"/>
          <p:cNvSpPr txBox="1"/>
          <p:nvPr/>
        </p:nvSpPr>
        <p:spPr>
          <a:xfrm>
            <a:off x="8714232" y="25603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D6F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3D6FA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1"/>
          <p:cNvSpPr txBox="1"/>
          <p:nvPr/>
        </p:nvSpPr>
        <p:spPr>
          <a:xfrm>
            <a:off x="8641080" y="2770632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Risk Gate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1"/>
          <p:cNvSpPr txBox="1"/>
          <p:nvPr/>
        </p:nvSpPr>
        <p:spPr>
          <a:xfrm>
            <a:off x="9921240" y="2514600"/>
            <a:ext cx="3200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456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4B456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1"/>
          <p:cNvSpPr txBox="1"/>
          <p:nvPr/>
        </p:nvSpPr>
        <p:spPr>
          <a:xfrm>
            <a:off x="8549640" y="3749040"/>
            <a:ext cx="1463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4B456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B4560"/>
                </a:solidFill>
                <a:latin typeface="Calibri"/>
                <a:ea typeface="Calibri"/>
                <a:cs typeface="Calibri"/>
                <a:sym typeface="Calibri"/>
              </a:rPr>
              <a:t>confidence × impact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4B456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B4560"/>
                </a:solidFill>
                <a:latin typeface="Calibri"/>
                <a:ea typeface="Calibri"/>
                <a:cs typeface="Calibri"/>
                <a:sym typeface="Calibri"/>
              </a:rPr>
              <a:t>→ 3-tier routing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1"/>
          <p:cNvSpPr/>
          <p:nvPr/>
        </p:nvSpPr>
        <p:spPr>
          <a:xfrm>
            <a:off x="10241280" y="2514600"/>
            <a:ext cx="1280160" cy="1051560"/>
          </a:xfrm>
          <a:prstGeom prst="rect">
            <a:avLst/>
          </a:prstGeom>
          <a:solidFill>
            <a:srgbClr val="F3EE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1"/>
          <p:cNvSpPr txBox="1"/>
          <p:nvPr/>
        </p:nvSpPr>
        <p:spPr>
          <a:xfrm>
            <a:off x="10314432" y="25603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1"/>
          <p:cNvSpPr txBox="1"/>
          <p:nvPr/>
        </p:nvSpPr>
        <p:spPr>
          <a:xfrm>
            <a:off x="10241280" y="2770632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3B1670"/>
                </a:solidFill>
                <a:latin typeface="Cambria"/>
                <a:ea typeface="Cambria"/>
                <a:cs typeface="Cambria"/>
                <a:sym typeface="Cambria"/>
              </a:rPr>
              <a:t>Review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1"/>
          <p:cNvSpPr txBox="1"/>
          <p:nvPr/>
        </p:nvSpPr>
        <p:spPr>
          <a:xfrm>
            <a:off x="10149840" y="3749040"/>
            <a:ext cx="1463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4B456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B4560"/>
                </a:solidFill>
                <a:latin typeface="Calibri"/>
                <a:ea typeface="Calibri"/>
                <a:cs typeface="Calibri"/>
                <a:sym typeface="Calibri"/>
              </a:rPr>
              <a:t>Deterministic evidence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4B456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B4560"/>
                </a:solidFill>
                <a:latin typeface="Calibri"/>
                <a:ea typeface="Calibri"/>
                <a:cs typeface="Calibri"/>
                <a:sym typeface="Calibri"/>
              </a:rPr>
              <a:t>panel, human decides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1"/>
          <p:cNvSpPr/>
          <p:nvPr/>
        </p:nvSpPr>
        <p:spPr>
          <a:xfrm>
            <a:off x="640080" y="4983480"/>
            <a:ext cx="10881360" cy="1280160"/>
          </a:xfrm>
          <a:prstGeom prst="rect">
            <a:avLst/>
          </a:prstGeom>
          <a:solidFill>
            <a:srgbClr val="F3EE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1"/>
          <p:cNvSpPr txBox="1"/>
          <p:nvPr/>
        </p:nvSpPr>
        <p:spPr>
          <a:xfrm>
            <a:off x="914400" y="5120640"/>
            <a:ext cx="103327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3B1670"/>
                </a:solidFill>
                <a:latin typeface="Calibri"/>
                <a:ea typeface="Calibri"/>
                <a:cs typeface="Calibri"/>
                <a:sym typeface="Calibri"/>
              </a:rPr>
              <a:t>All trust labels, tags, and provenance metadata are internal to the Detector Agent and stripped before content reaches the Main LLM ,its context is identical whether a call passed automatically or was cleared after human review.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2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RISK SCORING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2"/>
          <p:cNvSpPr txBox="1"/>
          <p:nvPr/>
        </p:nvSpPr>
        <p:spPr>
          <a:xfrm>
            <a:off x="640080" y="749808"/>
            <a:ext cx="9601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22B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8122B"/>
                </a:solidFill>
                <a:latin typeface="Cambria"/>
                <a:ea typeface="Cambria"/>
                <a:cs typeface="Cambria"/>
                <a:sym typeface="Cambria"/>
              </a:rPr>
              <a:t>confidence × impact decides who reviews what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2"/>
          <p:cNvSpPr/>
          <p:nvPr/>
        </p:nvSpPr>
        <p:spPr>
          <a:xfrm>
            <a:off x="11000232" y="63550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B456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B4560"/>
                </a:solidFill>
                <a:latin typeface="Calibri"/>
                <a:ea typeface="Calibri"/>
                <a:cs typeface="Calibri"/>
                <a:sym typeface="Calibri"/>
              </a:rPr>
              <a:t>09 / 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2"/>
          <p:cNvSpPr/>
          <p:nvPr/>
        </p:nvSpPr>
        <p:spPr>
          <a:xfrm>
            <a:off x="640080" y="1645920"/>
            <a:ext cx="10881360" cy="777240"/>
          </a:xfrm>
          <a:prstGeom prst="rect">
            <a:avLst/>
          </a:prstGeom>
          <a:solidFill>
            <a:srgbClr val="3B16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2"/>
          <p:cNvSpPr txBox="1"/>
          <p:nvPr/>
        </p:nvSpPr>
        <p:spPr>
          <a:xfrm>
            <a:off x="640080" y="1645920"/>
            <a:ext cx="10881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confidence = 1 − (1 − S)(1 − C)        risk = confidence × impact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2"/>
          <p:cNvSpPr/>
          <p:nvPr/>
        </p:nvSpPr>
        <p:spPr>
          <a:xfrm>
            <a:off x="640080" y="2697480"/>
            <a:ext cx="3502152" cy="2194560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rgbClr val="E3D6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2"/>
          <p:cNvSpPr/>
          <p:nvPr/>
        </p:nvSpPr>
        <p:spPr>
          <a:xfrm>
            <a:off x="914400" y="2926080"/>
            <a:ext cx="502920" cy="502920"/>
          </a:xfrm>
          <a:prstGeom prst="ellipse">
            <a:avLst/>
          </a:prstGeom>
          <a:solidFill>
            <a:srgbClr val="1E7A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2"/>
          <p:cNvSpPr txBox="1"/>
          <p:nvPr/>
        </p:nvSpPr>
        <p:spPr>
          <a:xfrm>
            <a:off x="914400" y="29260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30"/>
              <a:buFont typeface="Calibri"/>
              <a:buNone/>
            </a:pPr>
            <a:r>
              <a:rPr b="1" i="0" lang="en-US" sz="143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 b="0" i="0" sz="14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2"/>
          <p:cNvSpPr txBox="1"/>
          <p:nvPr/>
        </p:nvSpPr>
        <p:spPr>
          <a:xfrm>
            <a:off x="1600200" y="2944368"/>
            <a:ext cx="24048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7A4C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E7A4C"/>
                </a:solidFill>
                <a:latin typeface="Cambria"/>
                <a:ea typeface="Cambria"/>
                <a:cs typeface="Cambria"/>
                <a:sym typeface="Cambria"/>
              </a:rPr>
              <a:t>Low risk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2"/>
          <p:cNvSpPr txBox="1"/>
          <p:nvPr/>
        </p:nvSpPr>
        <p:spPr>
          <a:xfrm>
            <a:off x="914400" y="3611880"/>
            <a:ext cx="2953512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B456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B4560"/>
                </a:solidFill>
                <a:latin typeface="Calibri"/>
                <a:ea typeface="Calibri"/>
                <a:cs typeface="Calibri"/>
                <a:sym typeface="Calibri"/>
              </a:rPr>
              <a:t>Proceeds automatically, logged for audit. No escalation.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2"/>
          <p:cNvSpPr/>
          <p:nvPr/>
        </p:nvSpPr>
        <p:spPr>
          <a:xfrm>
            <a:off x="4325112" y="2697480"/>
            <a:ext cx="3502152" cy="2194560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rgbClr val="E3D6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2"/>
          <p:cNvSpPr/>
          <p:nvPr/>
        </p:nvSpPr>
        <p:spPr>
          <a:xfrm>
            <a:off x="4599432" y="2926080"/>
            <a:ext cx="502920" cy="502920"/>
          </a:xfrm>
          <a:prstGeom prst="ellipse">
            <a:avLst/>
          </a:prstGeom>
          <a:solidFill>
            <a:srgbClr val="B779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2"/>
          <p:cNvSpPr txBox="1"/>
          <p:nvPr/>
        </p:nvSpPr>
        <p:spPr>
          <a:xfrm>
            <a:off x="4599432" y="29260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30"/>
              <a:buFont typeface="Calibri"/>
              <a:buNone/>
            </a:pPr>
            <a:r>
              <a:rPr b="1" i="0" lang="en-US" sz="143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 b="0" i="0" sz="14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2"/>
          <p:cNvSpPr txBox="1"/>
          <p:nvPr/>
        </p:nvSpPr>
        <p:spPr>
          <a:xfrm>
            <a:off x="5285232" y="2944368"/>
            <a:ext cx="24048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B7791F"/>
                </a:solidFill>
                <a:latin typeface="Cambria"/>
                <a:ea typeface="Cambria"/>
                <a:cs typeface="Cambria"/>
                <a:sym typeface="Cambria"/>
              </a:rPr>
              <a:t>Moderate risk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2"/>
          <p:cNvSpPr txBox="1"/>
          <p:nvPr/>
        </p:nvSpPr>
        <p:spPr>
          <a:xfrm>
            <a:off x="4599432" y="3611880"/>
            <a:ext cx="2953512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B456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B4560"/>
                </a:solidFill>
                <a:latin typeface="Calibri"/>
                <a:ea typeface="Calibri"/>
                <a:cs typeface="Calibri"/>
                <a:sym typeface="Calibri"/>
              </a:rPr>
              <a:t>Flagged and logged. Full decision set: allow, deny, evidence-only.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2"/>
          <p:cNvSpPr/>
          <p:nvPr/>
        </p:nvSpPr>
        <p:spPr>
          <a:xfrm>
            <a:off x="8010144" y="2697480"/>
            <a:ext cx="3502152" cy="2194560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rgbClr val="E3D6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2"/>
          <p:cNvSpPr/>
          <p:nvPr/>
        </p:nvSpPr>
        <p:spPr>
          <a:xfrm>
            <a:off x="8284464" y="2926080"/>
            <a:ext cx="502920" cy="50292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2"/>
          <p:cNvSpPr txBox="1"/>
          <p:nvPr/>
        </p:nvSpPr>
        <p:spPr>
          <a:xfrm>
            <a:off x="8284464" y="29260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30"/>
              <a:buFont typeface="Calibri"/>
              <a:buNone/>
            </a:pPr>
            <a:r>
              <a:rPr b="1" i="0" lang="en-US" sz="143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b="0" i="0" sz="14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2"/>
          <p:cNvSpPr txBox="1"/>
          <p:nvPr/>
        </p:nvSpPr>
        <p:spPr>
          <a:xfrm>
            <a:off x="8970264" y="2944368"/>
            <a:ext cx="24048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C0392B"/>
                </a:solidFill>
                <a:latin typeface="Cambria"/>
                <a:ea typeface="Cambria"/>
                <a:cs typeface="Cambria"/>
                <a:sym typeface="Cambria"/>
              </a:rPr>
              <a:t>High risk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2"/>
          <p:cNvSpPr txBox="1"/>
          <p:nvPr/>
        </p:nvSpPr>
        <p:spPr>
          <a:xfrm>
            <a:off x="8284464" y="3611880"/>
            <a:ext cx="2953512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B456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B4560"/>
                </a:solidFill>
                <a:latin typeface="Calibri"/>
                <a:ea typeface="Calibri"/>
                <a:cs typeface="Calibri"/>
                <a:sym typeface="Calibri"/>
              </a:rPr>
              <a:t>Execution paused. Raw “Allow” is removed — only deny, or evidence-only remain.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2"/>
          <p:cNvSpPr txBox="1"/>
          <p:nvPr/>
        </p:nvSpPr>
        <p:spPr>
          <a:xfrm>
            <a:off x="640080" y="5166360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4560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4B4560"/>
                </a:solidFill>
                <a:latin typeface="Calibri"/>
                <a:ea typeface="Calibri"/>
                <a:cs typeface="Calibri"/>
                <a:sym typeface="Calibri"/>
              </a:rPr>
              <a:t>Impact is a fixed, predefined severity tier assigned per tool type in advance </a:t>
            </a:r>
            <a:r>
              <a:rPr i="1" lang="en-US" sz="1250">
                <a:solidFill>
                  <a:srgbClr val="4B4560"/>
                </a:solidFill>
                <a:latin typeface="Calibri"/>
                <a:ea typeface="Calibri"/>
                <a:cs typeface="Calibri"/>
                <a:sym typeface="Calibri"/>
              </a:rPr>
              <a:t>, e</a:t>
            </a:r>
            <a:r>
              <a:rPr b="0" i="1" lang="en-US" sz="1250" u="none" cap="none" strike="noStrike">
                <a:solidFill>
                  <a:srgbClr val="4B4560"/>
                </a:solidFill>
                <a:latin typeface="Calibri"/>
                <a:ea typeface="Calibri"/>
                <a:cs typeface="Calibri"/>
                <a:sym typeface="Calibri"/>
              </a:rPr>
              <a:t>.g. sending an email or modifying an account rates higher than a read-only call.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3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SYSTEM ARCHITECTURE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3"/>
          <p:cNvSpPr txBox="1"/>
          <p:nvPr/>
        </p:nvSpPr>
        <p:spPr>
          <a:xfrm>
            <a:off x="640080" y="749808"/>
            <a:ext cx="9601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22B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8122B"/>
                </a:solidFill>
                <a:latin typeface="Cambria"/>
                <a:ea typeface="Cambria"/>
                <a:cs typeface="Cambria"/>
                <a:sym typeface="Cambria"/>
              </a:rPr>
              <a:t>The Detector Agent as a middleware layer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3"/>
          <p:cNvSpPr/>
          <p:nvPr/>
        </p:nvSpPr>
        <p:spPr>
          <a:xfrm>
            <a:off x="11000232" y="63550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B456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B4560"/>
                </a:solidFill>
                <a:latin typeface="Calibri"/>
                <a:ea typeface="Calibri"/>
                <a:cs typeface="Calibri"/>
                <a:sym typeface="Calibri"/>
              </a:rPr>
              <a:t>10 / 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3"/>
          <p:cNvSpPr/>
          <p:nvPr/>
        </p:nvSpPr>
        <p:spPr>
          <a:xfrm>
            <a:off x="640080" y="2103120"/>
            <a:ext cx="1874520" cy="914400"/>
          </a:xfrm>
          <a:prstGeom prst="rect">
            <a:avLst/>
          </a:prstGeom>
          <a:solidFill>
            <a:srgbClr val="F3EE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3"/>
          <p:cNvSpPr txBox="1"/>
          <p:nvPr/>
        </p:nvSpPr>
        <p:spPr>
          <a:xfrm>
            <a:off x="640080" y="2103120"/>
            <a:ext cx="18745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3B1670"/>
                </a:solidFill>
                <a:latin typeface="Calibri"/>
                <a:ea typeface="Calibri"/>
                <a:cs typeface="Calibri"/>
                <a:sym typeface="Calibri"/>
              </a:rPr>
              <a:t>User Request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3"/>
          <p:cNvSpPr txBox="1"/>
          <p:nvPr/>
        </p:nvSpPr>
        <p:spPr>
          <a:xfrm>
            <a:off x="2514600" y="2103120"/>
            <a:ext cx="37719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456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4B4560"/>
                </a:solidFill>
                <a:latin typeface="Calibri"/>
                <a:ea typeface="Calibri"/>
                <a:cs typeface="Calibri"/>
                <a:sym typeface="Calibri"/>
              </a:rPr>
              <a:t>⇄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3"/>
          <p:cNvSpPr/>
          <p:nvPr/>
        </p:nvSpPr>
        <p:spPr>
          <a:xfrm>
            <a:off x="2891790" y="2103120"/>
            <a:ext cx="1874520" cy="914400"/>
          </a:xfrm>
          <a:prstGeom prst="rect">
            <a:avLst/>
          </a:prstGeom>
          <a:solidFill>
            <a:srgbClr val="F3EE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3"/>
          <p:cNvSpPr txBox="1"/>
          <p:nvPr/>
        </p:nvSpPr>
        <p:spPr>
          <a:xfrm>
            <a:off x="2891790" y="2103120"/>
            <a:ext cx="18745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3B1670"/>
                </a:solidFill>
                <a:latin typeface="Calibri"/>
                <a:ea typeface="Calibri"/>
                <a:cs typeface="Calibri"/>
                <a:sym typeface="Calibri"/>
              </a:rPr>
              <a:t>Main LLM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3"/>
          <p:cNvSpPr txBox="1"/>
          <p:nvPr/>
        </p:nvSpPr>
        <p:spPr>
          <a:xfrm>
            <a:off x="4766310" y="2103120"/>
            <a:ext cx="37719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456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4B4560"/>
                </a:solidFill>
                <a:latin typeface="Calibri"/>
                <a:ea typeface="Calibri"/>
                <a:cs typeface="Calibri"/>
                <a:sym typeface="Calibri"/>
              </a:rPr>
              <a:t>⇄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3"/>
          <p:cNvSpPr/>
          <p:nvPr/>
        </p:nvSpPr>
        <p:spPr>
          <a:xfrm>
            <a:off x="5143500" y="2103120"/>
            <a:ext cx="1874520" cy="914400"/>
          </a:xfrm>
          <a:prstGeom prst="rect">
            <a:avLst/>
          </a:prstGeom>
          <a:solidFill>
            <a:srgbClr val="F3EE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3"/>
          <p:cNvSpPr txBox="1"/>
          <p:nvPr/>
        </p:nvSpPr>
        <p:spPr>
          <a:xfrm>
            <a:off x="5143500" y="2103120"/>
            <a:ext cx="18745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3B1670"/>
                </a:solidFill>
                <a:latin typeface="Calibri"/>
                <a:ea typeface="Calibri"/>
                <a:cs typeface="Calibri"/>
                <a:sym typeface="Calibri"/>
              </a:rPr>
              <a:t>Agent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3"/>
          <p:cNvSpPr txBox="1"/>
          <p:nvPr/>
        </p:nvSpPr>
        <p:spPr>
          <a:xfrm>
            <a:off x="7018020" y="2103120"/>
            <a:ext cx="37719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456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4B4560"/>
                </a:solidFill>
                <a:latin typeface="Calibri"/>
                <a:ea typeface="Calibri"/>
                <a:cs typeface="Calibri"/>
                <a:sym typeface="Calibri"/>
              </a:rPr>
              <a:t>⇄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3"/>
          <p:cNvSpPr/>
          <p:nvPr/>
        </p:nvSpPr>
        <p:spPr>
          <a:xfrm>
            <a:off x="7395210" y="1965960"/>
            <a:ext cx="1874520" cy="1188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3"/>
          <p:cNvSpPr txBox="1"/>
          <p:nvPr/>
        </p:nvSpPr>
        <p:spPr>
          <a:xfrm>
            <a:off x="7395210" y="1965960"/>
            <a:ext cx="18745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Detector Agent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3"/>
          <p:cNvSpPr txBox="1"/>
          <p:nvPr/>
        </p:nvSpPr>
        <p:spPr>
          <a:xfrm>
            <a:off x="9269730" y="2103120"/>
            <a:ext cx="37719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456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4B4560"/>
                </a:solidFill>
                <a:latin typeface="Calibri"/>
                <a:ea typeface="Calibri"/>
                <a:cs typeface="Calibri"/>
                <a:sym typeface="Calibri"/>
              </a:rPr>
              <a:t>⇄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3"/>
          <p:cNvSpPr/>
          <p:nvPr/>
        </p:nvSpPr>
        <p:spPr>
          <a:xfrm>
            <a:off x="9646920" y="2103120"/>
            <a:ext cx="1874520" cy="914400"/>
          </a:xfrm>
          <a:prstGeom prst="rect">
            <a:avLst/>
          </a:prstGeom>
          <a:solidFill>
            <a:srgbClr val="F3EE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3"/>
          <p:cNvSpPr txBox="1"/>
          <p:nvPr/>
        </p:nvSpPr>
        <p:spPr>
          <a:xfrm>
            <a:off x="9646920" y="2103120"/>
            <a:ext cx="18745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3B1670"/>
                </a:solidFill>
                <a:latin typeface="Calibri"/>
                <a:ea typeface="Calibri"/>
                <a:cs typeface="Calibri"/>
                <a:sym typeface="Calibri"/>
              </a:rPr>
              <a:t>Tool Layer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3"/>
          <p:cNvSpPr/>
          <p:nvPr/>
        </p:nvSpPr>
        <p:spPr>
          <a:xfrm>
            <a:off x="640080" y="3794760"/>
            <a:ext cx="3502152" cy="1051560"/>
          </a:xfrm>
          <a:prstGeom prst="rect">
            <a:avLst/>
          </a:prstGeom>
          <a:solidFill>
            <a:srgbClr val="FAF8FE"/>
          </a:solidFill>
          <a:ln cap="flat" cmpd="sng" w="12700">
            <a:solidFill>
              <a:srgbClr val="E3D6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3"/>
          <p:cNvSpPr txBox="1"/>
          <p:nvPr/>
        </p:nvSpPr>
        <p:spPr>
          <a:xfrm>
            <a:off x="822960" y="3886200"/>
            <a:ext cx="31363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B1670"/>
                </a:solidFill>
                <a:latin typeface="Calibri"/>
                <a:ea typeface="Calibri"/>
                <a:cs typeface="Calibri"/>
                <a:sym typeface="Calibri"/>
              </a:rPr>
              <a:t>Deterministic Parser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3"/>
          <p:cNvSpPr txBox="1"/>
          <p:nvPr/>
        </p:nvSpPr>
        <p:spPr>
          <a:xfrm>
            <a:off x="822960" y="4178808"/>
            <a:ext cx="3136392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456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B4560"/>
                </a:solidFill>
                <a:latin typeface="Calibri"/>
                <a:ea typeface="Calibri"/>
                <a:cs typeface="Calibri"/>
                <a:sym typeface="Calibri"/>
              </a:rPr>
              <a:t>JSON → discrete fields; call cloned into a Trust Verification Matrix (TVM) with an internal-id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3"/>
          <p:cNvSpPr/>
          <p:nvPr/>
        </p:nvSpPr>
        <p:spPr>
          <a:xfrm>
            <a:off x="4325112" y="3794760"/>
            <a:ext cx="3502152" cy="1051560"/>
          </a:xfrm>
          <a:prstGeom prst="rect">
            <a:avLst/>
          </a:prstGeom>
          <a:solidFill>
            <a:srgbClr val="FAF8FE"/>
          </a:solidFill>
          <a:ln cap="flat" cmpd="sng" w="12700">
            <a:solidFill>
              <a:srgbClr val="E3D6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3"/>
          <p:cNvSpPr txBox="1"/>
          <p:nvPr/>
        </p:nvSpPr>
        <p:spPr>
          <a:xfrm>
            <a:off x="4507992" y="3886200"/>
            <a:ext cx="31363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B1670"/>
                </a:solidFill>
                <a:latin typeface="Calibri"/>
                <a:ea typeface="Calibri"/>
                <a:cs typeface="Calibri"/>
                <a:sym typeface="Calibri"/>
              </a:rPr>
              <a:t>Tagging Module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3"/>
          <p:cNvSpPr txBox="1"/>
          <p:nvPr/>
        </p:nvSpPr>
        <p:spPr>
          <a:xfrm>
            <a:off x="4507992" y="4178808"/>
            <a:ext cx="3136392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456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B4560"/>
                </a:solidFill>
                <a:latin typeface="Calibri"/>
                <a:ea typeface="Calibri"/>
                <a:cs typeface="Calibri"/>
                <a:sym typeface="Calibri"/>
              </a:rPr>
              <a:t>Trust tag for system fields; Untrusted tag for human/external fields</a:t>
            </a:r>
            <a:r>
              <a:rPr lang="en-US" sz="1000">
                <a:solidFill>
                  <a:srgbClr val="4B456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3"/>
          <p:cNvSpPr/>
          <p:nvPr/>
        </p:nvSpPr>
        <p:spPr>
          <a:xfrm>
            <a:off x="8010144" y="3794760"/>
            <a:ext cx="3502152" cy="1051560"/>
          </a:xfrm>
          <a:prstGeom prst="rect">
            <a:avLst/>
          </a:prstGeom>
          <a:solidFill>
            <a:srgbClr val="FAF8FE"/>
          </a:solidFill>
          <a:ln cap="flat" cmpd="sng" w="12700">
            <a:solidFill>
              <a:srgbClr val="E3D6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3"/>
          <p:cNvSpPr txBox="1"/>
          <p:nvPr/>
        </p:nvSpPr>
        <p:spPr>
          <a:xfrm>
            <a:off x="8193024" y="3886200"/>
            <a:ext cx="31363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B1670"/>
                </a:solidFill>
                <a:latin typeface="Calibri"/>
                <a:ea typeface="Calibri"/>
                <a:cs typeface="Calibri"/>
                <a:sym typeface="Calibri"/>
              </a:rPr>
              <a:t>Trust-Provenance Graph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3"/>
          <p:cNvSpPr txBox="1"/>
          <p:nvPr/>
        </p:nvSpPr>
        <p:spPr>
          <a:xfrm>
            <a:off x="8193024" y="4178808"/>
            <a:ext cx="3136392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456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B4560"/>
                </a:solidFill>
                <a:latin typeface="Calibri"/>
                <a:ea typeface="Calibri"/>
                <a:cs typeface="Calibri"/>
                <a:sym typeface="Calibri"/>
              </a:rPr>
              <a:t>Fields labeled &lt;T&gt;/&lt;UT&gt;; checks nested-call mimicry &amp; tag forgery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3"/>
          <p:cNvSpPr/>
          <p:nvPr/>
        </p:nvSpPr>
        <p:spPr>
          <a:xfrm>
            <a:off x="640080" y="4983480"/>
            <a:ext cx="3502152" cy="1051560"/>
          </a:xfrm>
          <a:prstGeom prst="rect">
            <a:avLst/>
          </a:prstGeom>
          <a:solidFill>
            <a:srgbClr val="FAF8FE"/>
          </a:solidFill>
          <a:ln cap="flat" cmpd="sng" w="12700">
            <a:solidFill>
              <a:srgbClr val="E3D6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3"/>
          <p:cNvSpPr txBox="1"/>
          <p:nvPr/>
        </p:nvSpPr>
        <p:spPr>
          <a:xfrm>
            <a:off x="822960" y="5074920"/>
            <a:ext cx="31363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B1670"/>
                </a:solidFill>
                <a:latin typeface="Calibri"/>
                <a:ea typeface="Calibri"/>
                <a:cs typeface="Calibri"/>
                <a:sym typeface="Calibri"/>
              </a:rPr>
              <a:t>Constrained Classifier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3"/>
          <p:cNvSpPr txBox="1"/>
          <p:nvPr/>
        </p:nvSpPr>
        <p:spPr>
          <a:xfrm>
            <a:off x="822960" y="5367528"/>
            <a:ext cx="3136392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456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B4560"/>
                </a:solidFill>
                <a:latin typeface="Calibri"/>
                <a:ea typeface="Calibri"/>
                <a:cs typeface="Calibri"/>
                <a:sym typeface="Calibri"/>
              </a:rPr>
              <a:t>Non-LLM confidence score for residual structural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3"/>
          <p:cNvSpPr/>
          <p:nvPr/>
        </p:nvSpPr>
        <p:spPr>
          <a:xfrm>
            <a:off x="4325112" y="4983480"/>
            <a:ext cx="3502152" cy="1051560"/>
          </a:xfrm>
          <a:prstGeom prst="rect">
            <a:avLst/>
          </a:prstGeom>
          <a:solidFill>
            <a:srgbClr val="FAF8FE"/>
          </a:solidFill>
          <a:ln cap="flat" cmpd="sng" w="12700">
            <a:solidFill>
              <a:srgbClr val="E3D6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3"/>
          <p:cNvSpPr txBox="1"/>
          <p:nvPr/>
        </p:nvSpPr>
        <p:spPr>
          <a:xfrm>
            <a:off x="4507992" y="5074920"/>
            <a:ext cx="31363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B1670"/>
                </a:solidFill>
                <a:latin typeface="Calibri"/>
                <a:ea typeface="Calibri"/>
                <a:cs typeface="Calibri"/>
                <a:sym typeface="Calibri"/>
              </a:rPr>
              <a:t>Risk Gate + Human Review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3"/>
          <p:cNvSpPr txBox="1"/>
          <p:nvPr/>
        </p:nvSpPr>
        <p:spPr>
          <a:xfrm>
            <a:off x="4507992" y="5367528"/>
            <a:ext cx="3136392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456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B4560"/>
                </a:solidFill>
                <a:latin typeface="Calibri"/>
                <a:ea typeface="Calibri"/>
                <a:cs typeface="Calibri"/>
                <a:sym typeface="Calibri"/>
              </a:rPr>
              <a:t>confidence × impact routes to auto-pass or tiered escalation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3"/>
          <p:cNvSpPr/>
          <p:nvPr/>
        </p:nvSpPr>
        <p:spPr>
          <a:xfrm>
            <a:off x="8010144" y="4983480"/>
            <a:ext cx="3502152" cy="1051560"/>
          </a:xfrm>
          <a:prstGeom prst="rect">
            <a:avLst/>
          </a:prstGeom>
          <a:solidFill>
            <a:srgbClr val="FAF8FE"/>
          </a:solidFill>
          <a:ln cap="flat" cmpd="sng" w="12700">
            <a:solidFill>
              <a:srgbClr val="E3D6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3"/>
          <p:cNvSpPr txBox="1"/>
          <p:nvPr/>
        </p:nvSpPr>
        <p:spPr>
          <a:xfrm>
            <a:off x="8193024" y="5074920"/>
            <a:ext cx="31363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B1670"/>
                </a:solidFill>
                <a:latin typeface="Calibri"/>
                <a:ea typeface="Calibri"/>
                <a:cs typeface="Calibri"/>
                <a:sym typeface="Calibri"/>
              </a:rPr>
              <a:t>Strip &amp; Handoff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3"/>
          <p:cNvSpPr txBox="1"/>
          <p:nvPr/>
        </p:nvSpPr>
        <p:spPr>
          <a:xfrm>
            <a:off x="8193024" y="5367528"/>
            <a:ext cx="3136392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456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B4560"/>
                </a:solidFill>
                <a:latin typeface="Calibri"/>
                <a:ea typeface="Calibri"/>
                <a:cs typeface="Calibri"/>
                <a:sym typeface="Calibri"/>
              </a:rPr>
              <a:t>All detection metadata stripped before content reaches the LLM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4"/>
          <p:cNvSpPr txBox="1"/>
          <p:nvPr/>
        </p:nvSpPr>
        <p:spPr>
          <a:xfrm>
            <a:off x="640080" y="457200"/>
            <a:ext cx="73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Architecture &amp; System Flow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5" name="Google Shape;28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075" y="1123925"/>
            <a:ext cx="11006626" cy="5453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5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EVALUATION PLAN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5"/>
          <p:cNvSpPr txBox="1"/>
          <p:nvPr/>
        </p:nvSpPr>
        <p:spPr>
          <a:xfrm>
            <a:off x="640080" y="749808"/>
            <a:ext cx="9601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22B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8122B"/>
                </a:solidFill>
                <a:latin typeface="Cambria"/>
                <a:ea typeface="Cambria"/>
                <a:cs typeface="Cambria"/>
                <a:sym typeface="Cambria"/>
              </a:rPr>
              <a:t>Benchmarks and the metrics that decide success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5"/>
          <p:cNvSpPr/>
          <p:nvPr/>
        </p:nvSpPr>
        <p:spPr>
          <a:xfrm>
            <a:off x="11000232" y="63550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B456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B4560"/>
                </a:solidFill>
                <a:latin typeface="Calibri"/>
                <a:ea typeface="Calibri"/>
                <a:cs typeface="Calibri"/>
                <a:sym typeface="Calibri"/>
              </a:rPr>
              <a:t>11 / 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5"/>
          <p:cNvSpPr/>
          <p:nvPr/>
        </p:nvSpPr>
        <p:spPr>
          <a:xfrm>
            <a:off x="640080" y="1737360"/>
            <a:ext cx="5212080" cy="2011680"/>
          </a:xfrm>
          <a:prstGeom prst="rect">
            <a:avLst/>
          </a:prstGeom>
          <a:solidFill>
            <a:srgbClr val="F3EE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5"/>
          <p:cNvSpPr txBox="1"/>
          <p:nvPr/>
        </p:nvSpPr>
        <p:spPr>
          <a:xfrm>
            <a:off x="914400" y="1920240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3B1670"/>
                </a:solidFill>
                <a:latin typeface="Cambria"/>
                <a:ea typeface="Cambria"/>
                <a:cs typeface="Cambria"/>
                <a:sym typeface="Cambria"/>
              </a:rPr>
              <a:t>AgentDojo</a:t>
            </a:r>
            <a:r>
              <a:rPr b="1" lang="en-US" sz="1500">
                <a:solidFill>
                  <a:srgbClr val="3B1670"/>
                </a:solidFill>
                <a:latin typeface="Cambria"/>
                <a:ea typeface="Cambria"/>
                <a:cs typeface="Cambria"/>
                <a:sym typeface="Cambria"/>
              </a:rPr>
              <a:t>,</a:t>
            </a:r>
            <a:r>
              <a:rPr b="1" i="0" lang="en-US" sz="1500" u="none" cap="none" strike="noStrike">
                <a:solidFill>
                  <a:srgbClr val="3B1670"/>
                </a:solidFill>
                <a:latin typeface="Cambria"/>
                <a:ea typeface="Cambria"/>
                <a:cs typeface="Cambria"/>
                <a:sym typeface="Cambria"/>
              </a:rPr>
              <a:t>  primary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5"/>
          <p:cNvSpPr txBox="1"/>
          <p:nvPr/>
        </p:nvSpPr>
        <p:spPr>
          <a:xfrm>
            <a:off x="914400" y="2331720"/>
            <a:ext cx="466344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B456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B4560"/>
                </a:solidFill>
                <a:latin typeface="Calibri"/>
                <a:ea typeface="Calibri"/>
                <a:cs typeface="Calibri"/>
                <a:sym typeface="Calibri"/>
              </a:rPr>
              <a:t>Real, executable multi-step agent environment; 97 tasks, 629 security test cases. Chosen for the same reason it addresses ToolEmu's simulated-benchmark limits.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5"/>
          <p:cNvSpPr/>
          <p:nvPr/>
        </p:nvSpPr>
        <p:spPr>
          <a:xfrm>
            <a:off x="6309360" y="1737360"/>
            <a:ext cx="5212080" cy="2011680"/>
          </a:xfrm>
          <a:prstGeom prst="rect">
            <a:avLst/>
          </a:prstGeom>
          <a:solidFill>
            <a:srgbClr val="FAF8FE"/>
          </a:solidFill>
          <a:ln cap="flat" cmpd="sng" w="12700">
            <a:solidFill>
              <a:srgbClr val="E3D6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5"/>
          <p:cNvSpPr txBox="1"/>
          <p:nvPr/>
        </p:nvSpPr>
        <p:spPr>
          <a:xfrm>
            <a:off x="6583680" y="1920240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3B1670"/>
                </a:solidFill>
                <a:latin typeface="Cambria"/>
                <a:ea typeface="Cambria"/>
                <a:cs typeface="Cambria"/>
                <a:sym typeface="Cambria"/>
              </a:rPr>
              <a:t>InjecAgent</a:t>
            </a:r>
            <a:r>
              <a:rPr b="1" lang="en-US" sz="1500">
                <a:solidFill>
                  <a:srgbClr val="3B1670"/>
                </a:solidFill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b="1" i="0" lang="en-US" sz="1500" u="none" cap="none" strike="noStrike">
                <a:solidFill>
                  <a:srgbClr val="3B1670"/>
                </a:solidFill>
                <a:latin typeface="Cambria"/>
                <a:ea typeface="Cambria"/>
                <a:cs typeface="Cambria"/>
                <a:sym typeface="Cambria"/>
              </a:rPr>
              <a:t> supporting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5"/>
          <p:cNvSpPr txBox="1"/>
          <p:nvPr/>
        </p:nvSpPr>
        <p:spPr>
          <a:xfrm>
            <a:off x="6583680" y="2331720"/>
            <a:ext cx="466344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B456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B4560"/>
                </a:solidFill>
                <a:latin typeface="Calibri"/>
                <a:ea typeface="Calibri"/>
                <a:cs typeface="Calibri"/>
                <a:sym typeface="Calibri"/>
              </a:rPr>
              <a:t>1,054 direct-harm / exfiltration cases, single-turn. Narrower scope than AgentDojo's multi-step setting — used as a secondary reference point.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5"/>
          <p:cNvSpPr/>
          <p:nvPr/>
        </p:nvSpPr>
        <p:spPr>
          <a:xfrm>
            <a:off x="640080" y="4242816"/>
            <a:ext cx="128016" cy="12801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5"/>
          <p:cNvSpPr txBox="1"/>
          <p:nvPr/>
        </p:nvSpPr>
        <p:spPr>
          <a:xfrm>
            <a:off x="914400" y="411480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12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8122B"/>
                </a:solidFill>
                <a:latin typeface="Calibri"/>
                <a:ea typeface="Calibri"/>
                <a:cs typeface="Calibri"/>
                <a:sym typeface="Calibri"/>
              </a:rPr>
              <a:t>Attack Success Rate</a:t>
            </a:r>
            <a:endParaRPr b="1" i="0" sz="1300" u="none" cap="none" strike="noStrike">
              <a:solidFill>
                <a:srgbClr val="1812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122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Measures bypassed malicious exploits </a:t>
            </a:r>
            <a:endParaRPr b="1"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5"/>
          <p:cNvSpPr/>
          <p:nvPr/>
        </p:nvSpPr>
        <p:spPr>
          <a:xfrm>
            <a:off x="4270248" y="4242816"/>
            <a:ext cx="128016" cy="12801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5"/>
          <p:cNvSpPr txBox="1"/>
          <p:nvPr/>
        </p:nvSpPr>
        <p:spPr>
          <a:xfrm>
            <a:off x="4544568" y="4114800"/>
            <a:ext cx="3200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12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8122B"/>
                </a:solidFill>
                <a:latin typeface="Calibri"/>
                <a:ea typeface="Calibri"/>
                <a:cs typeface="Calibri"/>
                <a:sym typeface="Calibri"/>
              </a:rPr>
              <a:t>Benign Utility</a:t>
            </a:r>
            <a:endParaRPr b="1" i="0" sz="1300" u="none" cap="none" strike="noStrike">
              <a:solidFill>
                <a:srgbClr val="1812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122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Assesses safe task completion</a:t>
            </a:r>
            <a:r>
              <a:rPr b="1" lang="en-US" sz="1300">
                <a:solidFill>
                  <a:srgbClr val="18122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1300">
              <a:solidFill>
                <a:srgbClr val="1812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5"/>
          <p:cNvSpPr/>
          <p:nvPr/>
        </p:nvSpPr>
        <p:spPr>
          <a:xfrm>
            <a:off x="7900416" y="4242816"/>
            <a:ext cx="128016" cy="12801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5"/>
          <p:cNvSpPr txBox="1"/>
          <p:nvPr/>
        </p:nvSpPr>
        <p:spPr>
          <a:xfrm>
            <a:off x="8174736" y="411480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12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8122B"/>
                </a:solidFill>
                <a:latin typeface="Calibri"/>
                <a:ea typeface="Calibri"/>
                <a:cs typeface="Calibri"/>
                <a:sym typeface="Calibri"/>
              </a:rPr>
              <a:t>Utility Under Attack</a:t>
            </a:r>
            <a:endParaRPr b="1" i="0" sz="1300" u="none" cap="none" strike="noStrike">
              <a:solidFill>
                <a:srgbClr val="1812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122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Evaluates post-block task recovery </a:t>
            </a:r>
            <a:endParaRPr b="1"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5"/>
          <p:cNvSpPr/>
          <p:nvPr/>
        </p:nvSpPr>
        <p:spPr>
          <a:xfrm>
            <a:off x="640080" y="5020056"/>
            <a:ext cx="128016" cy="12801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5"/>
          <p:cNvSpPr txBox="1"/>
          <p:nvPr/>
        </p:nvSpPr>
        <p:spPr>
          <a:xfrm>
            <a:off x="914400" y="489204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12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8122B"/>
                </a:solidFill>
                <a:latin typeface="Calibri"/>
                <a:ea typeface="Calibri"/>
                <a:cs typeface="Calibri"/>
                <a:sym typeface="Calibri"/>
              </a:rPr>
              <a:t>False Positive Rate</a:t>
            </a:r>
            <a:endParaRPr b="1" i="0" sz="1300" u="none" cap="none" strike="noStrike">
              <a:solidFill>
                <a:srgbClr val="1812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122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Monitors accidental safe-traffic blocks </a:t>
            </a:r>
            <a:endParaRPr b="1"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5"/>
          <p:cNvSpPr/>
          <p:nvPr/>
        </p:nvSpPr>
        <p:spPr>
          <a:xfrm>
            <a:off x="4270248" y="5020056"/>
            <a:ext cx="128016" cy="12801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5"/>
          <p:cNvSpPr txBox="1"/>
          <p:nvPr/>
        </p:nvSpPr>
        <p:spPr>
          <a:xfrm>
            <a:off x="4544568" y="489204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12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8122B"/>
                </a:solidFill>
                <a:latin typeface="Calibri"/>
                <a:ea typeface="Calibri"/>
                <a:cs typeface="Calibri"/>
                <a:sym typeface="Calibri"/>
              </a:rPr>
              <a:t>False Negative Rate</a:t>
            </a:r>
            <a:endParaRPr b="1" i="0" sz="1300" u="none" cap="none" strike="noStrike">
              <a:solidFill>
                <a:srgbClr val="1812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122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Tracks missed adversarial payloads </a:t>
            </a:r>
            <a:endParaRPr b="1"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5"/>
          <p:cNvSpPr/>
          <p:nvPr/>
        </p:nvSpPr>
        <p:spPr>
          <a:xfrm>
            <a:off x="7900416" y="5020056"/>
            <a:ext cx="128016" cy="12801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5"/>
          <p:cNvSpPr txBox="1"/>
          <p:nvPr/>
        </p:nvSpPr>
        <p:spPr>
          <a:xfrm>
            <a:off x="8174736" y="489204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12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8122B"/>
                </a:solidFill>
                <a:latin typeface="Calibri"/>
                <a:ea typeface="Calibri"/>
                <a:cs typeface="Calibri"/>
                <a:sym typeface="Calibri"/>
              </a:rPr>
              <a:t>Human Approval Accuracy</a:t>
            </a:r>
            <a:endParaRPr b="1" i="0" sz="1300" u="none" cap="none" strike="noStrike">
              <a:solidFill>
                <a:srgbClr val="1812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122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Verifies operator decision reliability </a:t>
            </a:r>
            <a:endParaRPr b="1"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6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TOOLS &amp; TECHNOLOGIES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6"/>
          <p:cNvSpPr txBox="1"/>
          <p:nvPr/>
        </p:nvSpPr>
        <p:spPr>
          <a:xfrm>
            <a:off x="640080" y="749808"/>
            <a:ext cx="9601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22B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8122B"/>
                </a:solidFill>
                <a:latin typeface="Cambria"/>
                <a:ea typeface="Cambria"/>
                <a:cs typeface="Cambria"/>
                <a:sym typeface="Cambria"/>
              </a:rPr>
              <a:t>A small, CPU-viable, fully deterministic stack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6"/>
          <p:cNvSpPr/>
          <p:nvPr/>
        </p:nvSpPr>
        <p:spPr>
          <a:xfrm>
            <a:off x="11000232" y="63550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B456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B4560"/>
                </a:solidFill>
                <a:latin typeface="Calibri"/>
                <a:ea typeface="Calibri"/>
                <a:cs typeface="Calibri"/>
                <a:sym typeface="Calibri"/>
              </a:rPr>
              <a:t>12 / 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6"/>
          <p:cNvSpPr/>
          <p:nvPr/>
        </p:nvSpPr>
        <p:spPr>
          <a:xfrm>
            <a:off x="640080" y="1783080"/>
            <a:ext cx="2606040" cy="1417320"/>
          </a:xfrm>
          <a:prstGeom prst="rect">
            <a:avLst/>
          </a:prstGeom>
          <a:solidFill>
            <a:srgbClr val="F3EEFC"/>
          </a:solidFill>
          <a:ln cap="flat" cmpd="sng" w="12700">
            <a:solidFill>
              <a:srgbClr val="E3D6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6"/>
          <p:cNvSpPr txBox="1"/>
          <p:nvPr/>
        </p:nvSpPr>
        <p:spPr>
          <a:xfrm>
            <a:off x="804672" y="1947672"/>
            <a:ext cx="227685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3B1670"/>
                </a:solidFill>
                <a:latin typeface="Cambria"/>
                <a:ea typeface="Cambria"/>
                <a:cs typeface="Cambria"/>
                <a:sym typeface="Cambria"/>
              </a:rPr>
              <a:t>Python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6"/>
          <p:cNvSpPr txBox="1"/>
          <p:nvPr/>
        </p:nvSpPr>
        <p:spPr>
          <a:xfrm>
            <a:off x="804672" y="2386584"/>
            <a:ext cx="2276856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456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B4560"/>
                </a:solidFill>
                <a:latin typeface="Calibri"/>
                <a:ea typeface="Calibri"/>
                <a:cs typeface="Calibri"/>
                <a:sym typeface="Calibri"/>
              </a:rPr>
              <a:t>Core implementation, parsing, evaluation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6"/>
          <p:cNvSpPr/>
          <p:nvPr/>
        </p:nvSpPr>
        <p:spPr>
          <a:xfrm>
            <a:off x="3383280" y="1783080"/>
            <a:ext cx="2606040" cy="1417320"/>
          </a:xfrm>
          <a:prstGeom prst="rect">
            <a:avLst/>
          </a:prstGeom>
          <a:solidFill>
            <a:srgbClr val="F3EEFC"/>
          </a:solidFill>
          <a:ln cap="flat" cmpd="sng" w="12700">
            <a:solidFill>
              <a:srgbClr val="E3D6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6"/>
          <p:cNvSpPr txBox="1"/>
          <p:nvPr/>
        </p:nvSpPr>
        <p:spPr>
          <a:xfrm>
            <a:off x="3547872" y="1947672"/>
            <a:ext cx="227685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3B1670"/>
                </a:solidFill>
                <a:latin typeface="Cambria"/>
                <a:ea typeface="Cambria"/>
                <a:cs typeface="Cambria"/>
                <a:sym typeface="Cambria"/>
              </a:rPr>
              <a:t>AgentDojo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6"/>
          <p:cNvSpPr txBox="1"/>
          <p:nvPr/>
        </p:nvSpPr>
        <p:spPr>
          <a:xfrm>
            <a:off x="3547872" y="2386584"/>
            <a:ext cx="2276856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456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B4560"/>
                </a:solidFill>
                <a:latin typeface="Calibri"/>
                <a:ea typeface="Calibri"/>
                <a:cs typeface="Calibri"/>
                <a:sym typeface="Calibri"/>
              </a:rPr>
              <a:t>Primary agent environment &amp; benchmark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6"/>
          <p:cNvSpPr/>
          <p:nvPr/>
        </p:nvSpPr>
        <p:spPr>
          <a:xfrm>
            <a:off x="6126480" y="1783080"/>
            <a:ext cx="2606040" cy="1417320"/>
          </a:xfrm>
          <a:prstGeom prst="rect">
            <a:avLst/>
          </a:prstGeom>
          <a:solidFill>
            <a:srgbClr val="F3EEFC"/>
          </a:solidFill>
          <a:ln cap="flat" cmpd="sng" w="12700">
            <a:solidFill>
              <a:srgbClr val="E3D6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6"/>
          <p:cNvSpPr txBox="1"/>
          <p:nvPr/>
        </p:nvSpPr>
        <p:spPr>
          <a:xfrm>
            <a:off x="6291072" y="1947672"/>
            <a:ext cx="227685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3B1670"/>
                </a:solidFill>
                <a:latin typeface="Cambria"/>
                <a:ea typeface="Cambria"/>
                <a:cs typeface="Cambria"/>
                <a:sym typeface="Cambria"/>
              </a:rPr>
              <a:t>InjecAgent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6"/>
          <p:cNvSpPr txBox="1"/>
          <p:nvPr/>
        </p:nvSpPr>
        <p:spPr>
          <a:xfrm>
            <a:off x="6291072" y="2386584"/>
            <a:ext cx="2276856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456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B4560"/>
                </a:solidFill>
                <a:latin typeface="Calibri"/>
                <a:ea typeface="Calibri"/>
                <a:cs typeface="Calibri"/>
                <a:sym typeface="Calibri"/>
              </a:rPr>
              <a:t>Supporting benchmark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6"/>
          <p:cNvSpPr/>
          <p:nvPr/>
        </p:nvSpPr>
        <p:spPr>
          <a:xfrm>
            <a:off x="8869680" y="1783080"/>
            <a:ext cx="2606040" cy="1417320"/>
          </a:xfrm>
          <a:prstGeom prst="rect">
            <a:avLst/>
          </a:prstGeom>
          <a:solidFill>
            <a:srgbClr val="F3EEFC"/>
          </a:solidFill>
          <a:ln cap="flat" cmpd="sng" w="12700">
            <a:solidFill>
              <a:srgbClr val="E3D6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6"/>
          <p:cNvSpPr txBox="1"/>
          <p:nvPr/>
        </p:nvSpPr>
        <p:spPr>
          <a:xfrm>
            <a:off x="9034272" y="1947672"/>
            <a:ext cx="227685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3B1670"/>
                </a:solidFill>
                <a:latin typeface="Cambria"/>
                <a:ea typeface="Cambria"/>
                <a:cs typeface="Cambria"/>
                <a:sym typeface="Cambria"/>
              </a:rPr>
              <a:t>NetworkX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6"/>
          <p:cNvSpPr txBox="1"/>
          <p:nvPr/>
        </p:nvSpPr>
        <p:spPr>
          <a:xfrm>
            <a:off x="9034272" y="2386584"/>
            <a:ext cx="2276856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456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B4560"/>
                </a:solidFill>
                <a:latin typeface="Calibri"/>
                <a:ea typeface="Calibri"/>
                <a:cs typeface="Calibri"/>
                <a:sym typeface="Calibri"/>
              </a:rPr>
              <a:t>Field-level trust-provenance graph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6"/>
          <p:cNvSpPr/>
          <p:nvPr/>
        </p:nvSpPr>
        <p:spPr>
          <a:xfrm>
            <a:off x="640080" y="3383280"/>
            <a:ext cx="2606040" cy="1417320"/>
          </a:xfrm>
          <a:prstGeom prst="rect">
            <a:avLst/>
          </a:prstGeom>
          <a:solidFill>
            <a:srgbClr val="FAF8FE"/>
          </a:solidFill>
          <a:ln cap="flat" cmpd="sng" w="12700">
            <a:solidFill>
              <a:srgbClr val="E3D6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6"/>
          <p:cNvSpPr txBox="1"/>
          <p:nvPr/>
        </p:nvSpPr>
        <p:spPr>
          <a:xfrm>
            <a:off x="804672" y="3547872"/>
            <a:ext cx="227685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3B1670"/>
                </a:solidFill>
                <a:latin typeface="Cambria"/>
                <a:ea typeface="Cambria"/>
                <a:cs typeface="Cambria"/>
                <a:sym typeface="Cambria"/>
              </a:rPr>
              <a:t>WL-SVM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6"/>
          <p:cNvSpPr txBox="1"/>
          <p:nvPr/>
        </p:nvSpPr>
        <p:spPr>
          <a:xfrm>
            <a:off x="804672" y="3986784"/>
            <a:ext cx="2276856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4560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4B4560"/>
                </a:solidFill>
                <a:latin typeface="Calibri"/>
                <a:ea typeface="Calibri"/>
                <a:cs typeface="Calibri"/>
                <a:sym typeface="Calibri"/>
              </a:rPr>
              <a:t>The Weisfeiler-Leman (WL) algorithm is a classic graph-isomorphism test that uses iterative color refinement to distinguish graph structures. 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6"/>
          <p:cNvSpPr/>
          <p:nvPr/>
        </p:nvSpPr>
        <p:spPr>
          <a:xfrm>
            <a:off x="3383280" y="3383280"/>
            <a:ext cx="2606040" cy="1417320"/>
          </a:xfrm>
          <a:prstGeom prst="rect">
            <a:avLst/>
          </a:prstGeom>
          <a:solidFill>
            <a:srgbClr val="FAF8FE"/>
          </a:solidFill>
          <a:ln cap="flat" cmpd="sng" w="12700">
            <a:solidFill>
              <a:srgbClr val="E3D6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6"/>
          <p:cNvSpPr txBox="1"/>
          <p:nvPr/>
        </p:nvSpPr>
        <p:spPr>
          <a:xfrm>
            <a:off x="3547872" y="3547872"/>
            <a:ext cx="227685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3B1670"/>
                </a:solidFill>
                <a:latin typeface="Cambria"/>
                <a:ea typeface="Cambria"/>
                <a:cs typeface="Cambria"/>
                <a:sym typeface="Cambria"/>
              </a:rPr>
              <a:t>scikit-learn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6"/>
          <p:cNvSpPr txBox="1"/>
          <p:nvPr/>
        </p:nvSpPr>
        <p:spPr>
          <a:xfrm>
            <a:off x="3547872" y="3986784"/>
            <a:ext cx="2276856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456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B4560"/>
                </a:solidFill>
                <a:latin typeface="Calibri"/>
                <a:ea typeface="Calibri"/>
                <a:cs typeface="Calibri"/>
                <a:sym typeface="Calibri"/>
              </a:rPr>
              <a:t>Training, validation, evaluation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6"/>
          <p:cNvSpPr/>
          <p:nvPr/>
        </p:nvSpPr>
        <p:spPr>
          <a:xfrm>
            <a:off x="6126480" y="3365308"/>
            <a:ext cx="2606100" cy="1417200"/>
          </a:xfrm>
          <a:prstGeom prst="rect">
            <a:avLst/>
          </a:prstGeom>
          <a:solidFill>
            <a:srgbClr val="FAF8FE"/>
          </a:solidFill>
          <a:ln cap="flat" cmpd="sng" w="12700">
            <a:solidFill>
              <a:srgbClr val="E3D6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6"/>
          <p:cNvSpPr txBox="1"/>
          <p:nvPr/>
        </p:nvSpPr>
        <p:spPr>
          <a:xfrm>
            <a:off x="6291072" y="3547872"/>
            <a:ext cx="227685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3B1670"/>
                </a:solidFill>
                <a:latin typeface="Cambria"/>
                <a:ea typeface="Cambria"/>
                <a:cs typeface="Cambria"/>
                <a:sym typeface="Cambria"/>
              </a:rPr>
              <a:t>pandas / Matplotlib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6"/>
          <p:cNvSpPr txBox="1"/>
          <p:nvPr/>
        </p:nvSpPr>
        <p:spPr>
          <a:xfrm>
            <a:off x="6291072" y="3986784"/>
            <a:ext cx="2276856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456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B4560"/>
                </a:solidFill>
                <a:latin typeface="Calibri"/>
                <a:ea typeface="Calibri"/>
                <a:cs typeface="Calibri"/>
                <a:sym typeface="Calibri"/>
              </a:rPr>
              <a:t>Results processing &amp; visualization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6"/>
          <p:cNvSpPr/>
          <p:nvPr/>
        </p:nvSpPr>
        <p:spPr>
          <a:xfrm>
            <a:off x="8869680" y="3383280"/>
            <a:ext cx="2606040" cy="1417320"/>
          </a:xfrm>
          <a:prstGeom prst="rect">
            <a:avLst/>
          </a:prstGeom>
          <a:solidFill>
            <a:srgbClr val="FAF8FE"/>
          </a:solidFill>
          <a:ln cap="flat" cmpd="sng" w="12700">
            <a:solidFill>
              <a:srgbClr val="E3D6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6"/>
          <p:cNvSpPr txBox="1"/>
          <p:nvPr/>
        </p:nvSpPr>
        <p:spPr>
          <a:xfrm>
            <a:off x="9034272" y="3547872"/>
            <a:ext cx="227685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3B1670"/>
                </a:solidFill>
                <a:latin typeface="Cambria"/>
                <a:ea typeface="Cambria"/>
                <a:cs typeface="Cambria"/>
                <a:sym typeface="Cambria"/>
              </a:rPr>
              <a:t>Git / GitHub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6"/>
          <p:cNvSpPr txBox="1"/>
          <p:nvPr/>
        </p:nvSpPr>
        <p:spPr>
          <a:xfrm>
            <a:off x="9034272" y="3986784"/>
            <a:ext cx="2276856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456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B4560"/>
                </a:solidFill>
                <a:latin typeface="Calibri"/>
                <a:ea typeface="Calibri"/>
                <a:cs typeface="Calibri"/>
                <a:sym typeface="Calibri"/>
              </a:rPr>
              <a:t>Source control &amp; experiment tracking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7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WORK PLAN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7"/>
          <p:cNvSpPr txBox="1"/>
          <p:nvPr/>
        </p:nvSpPr>
        <p:spPr>
          <a:xfrm>
            <a:off x="640080" y="749808"/>
            <a:ext cx="9601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22B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8122B"/>
                </a:solidFill>
                <a:latin typeface="Cambria"/>
                <a:ea typeface="Cambria"/>
                <a:cs typeface="Cambria"/>
                <a:sym typeface="Cambria"/>
              </a:rPr>
              <a:t>Major work packages </a:t>
            </a:r>
            <a:r>
              <a:rPr b="1" lang="en-US" sz="3200">
                <a:solidFill>
                  <a:srgbClr val="18122B"/>
                </a:solidFill>
                <a:latin typeface="Cambria"/>
                <a:ea typeface="Cambria"/>
                <a:cs typeface="Cambria"/>
                <a:sym typeface="Cambria"/>
              </a:rPr>
              <a:t>of </a:t>
            </a:r>
            <a:r>
              <a:rPr b="1" i="0" lang="en-US" sz="3200" u="none" cap="none" strike="noStrike">
                <a:solidFill>
                  <a:srgbClr val="18122B"/>
                </a:solidFill>
                <a:latin typeface="Cambria"/>
                <a:ea typeface="Cambria"/>
                <a:cs typeface="Cambria"/>
                <a:sym typeface="Cambria"/>
              </a:rPr>
              <a:t>FYP-I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7"/>
          <p:cNvSpPr/>
          <p:nvPr/>
        </p:nvSpPr>
        <p:spPr>
          <a:xfrm>
            <a:off x="11000232" y="63550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B456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B4560"/>
                </a:solidFill>
                <a:latin typeface="Calibri"/>
                <a:ea typeface="Calibri"/>
                <a:cs typeface="Calibri"/>
                <a:sym typeface="Calibri"/>
              </a:rPr>
              <a:t>13 / 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52" name="Google Shape;352;p17"/>
          <p:cNvGraphicFramePr/>
          <p:nvPr/>
        </p:nvGraphicFramePr>
        <p:xfrm>
          <a:off x="640080" y="1691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{89A8B7E2-F705-44A5-A6D5-286A8FD80680}</a:tableStyleId>
              </a:tblPr>
              <a:tblGrid>
                <a:gridCol w="457200"/>
                <a:gridCol w="1188725"/>
                <a:gridCol w="1280150"/>
                <a:gridCol w="4846325"/>
                <a:gridCol w="310895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#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Owner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Weeks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Work Package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Output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C3AED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8122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812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8122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812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8122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812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W1–W6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8122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812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Problem definition &amp; literature review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8122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812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Defended proposal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8122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812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8122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812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8122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812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</a:t>
                      </a:r>
                      <a:r>
                        <a:rPr lang="en-US" sz="1100">
                          <a:solidFill>
                            <a:srgbClr val="1812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r>
                        <a:rPr lang="en-US" sz="1100" u="none" cap="none" strike="noStrike">
                          <a:solidFill>
                            <a:srgbClr val="1812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–W11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8122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812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Deterministic parsing &amp; provenance tagging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8122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812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JSON parser, tag validation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C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8122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812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8122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812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8122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812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</a:t>
                      </a:r>
                      <a:r>
                        <a:rPr lang="en-US" sz="1100">
                          <a:solidFill>
                            <a:srgbClr val="1812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r>
                        <a:rPr lang="en-US" sz="1100" u="none" cap="none" strike="noStrike">
                          <a:solidFill>
                            <a:srgbClr val="1812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–W12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8122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812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Trust-provenance graph &amp; structural detection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8122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812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&lt;T&gt;/&lt;UT&gt; graph, mimicry checks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8122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812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8122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812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8122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812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W6–W13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8122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812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Constrained classifier &amp; risk scoring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8122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812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Non-LLM classifier, risk gate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C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8122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812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8122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812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M1+M2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8122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812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W9–W16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8122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812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AgentDojo</a:t>
                      </a:r>
                      <a:r>
                        <a:rPr lang="en-US" sz="1100" u="none" cap="none" strike="noStrike">
                          <a:solidFill>
                            <a:srgbClr val="1812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integration &amp; interception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8122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812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Detector Agent as pipeline element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8122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812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8122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812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M2+M3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8122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812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W10–W16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8122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812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Attack dataset &amp; evaluation harness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8122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812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ADI cases, benign negatives, scripts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D6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8"/>
          <p:cNvSpPr txBox="1"/>
          <p:nvPr/>
        </p:nvSpPr>
        <p:spPr>
          <a:xfrm>
            <a:off x="252530" y="228275"/>
            <a:ext cx="73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8"/>
          <p:cNvSpPr/>
          <p:nvPr/>
        </p:nvSpPr>
        <p:spPr>
          <a:xfrm>
            <a:off x="11000232" y="6355080"/>
            <a:ext cx="914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B456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B4560"/>
                </a:solidFill>
                <a:latin typeface="Calibri"/>
                <a:ea typeface="Calibri"/>
                <a:cs typeface="Calibri"/>
                <a:sym typeface="Calibri"/>
              </a:rPr>
              <a:t>13 / 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8"/>
          <p:cNvSpPr txBox="1"/>
          <p:nvPr/>
        </p:nvSpPr>
        <p:spPr>
          <a:xfrm>
            <a:off x="353850" y="683175"/>
            <a:ext cx="11634300" cy="60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[1] W. Choi and B. Lee, “Agent Data Injection Attacks are Realistic Threats to AI Agents,” arXiv preprint arXiv:2607.05120, Jul. 2026.</a:t>
            </a:r>
            <a:endParaRPr i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[2] E. Debenedetti et al., “AgentDojo: A Dynamic Environment to Evaluate Prompt Injection Attacks and Defenses for LLM Agents,” arXiv preprint arXiv:2406.13352, 2024.</a:t>
            </a:r>
            <a:endParaRPr i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[3] H. An, J. Zhang, T. Du, C. Zhou, Q. Li, T. Lin, and S. Ji, “IPIGuard: A Novel Tool Dependency Graph-Based Defense Against Indirect Prompt Injection in LLM Agents,” in Proc. Conf. on Empirical Methods in Natural Language Processing (EMNLP), 2025, arXiv:2508.15310.</a:t>
            </a:r>
            <a:endParaRPr i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[4] K. Zhu, X. Yang, J. Wang, W. Guo, and W. Y. Wang, “MELON: Provable Defense Against Indirect Prompt Injection Attacks in AI Agents,” in Proc. 42nd Int. Conf. on Machine Learning (ICML), PMLR, vol. 267, pp. 80310–80329, 2025, arXiv:2502.05174.</a:t>
            </a:r>
            <a:endParaRPr i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[5] K. Hines, G. Lopez, M. Hall, F. Zarfati, Y. Zunger, and E. Kıcıman, “Defending Against Indirect Prompt Injection Attacks With Spotlighting,” arXiv preprint arXiv:2403.14720, 2024.</a:t>
            </a:r>
            <a:endParaRPr i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[6] E. Debenedetti, G. Severi, N. Carlini, C. A. Choquette-Choo, M. Jagielski, M. Nasr, E. Wallace, and F. Tramèr, “Defeating Prompt Injections by Design,” arXiv preprint arXiv:2503.18813, 2025.</a:t>
            </a:r>
            <a:endParaRPr i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[7] Q. Zhan, Z. Liang, Z. Ying, and D. Kang, “InjecAgent: Benchmarking Indirect Prompt Injections in Tool-Integrated Large Language Model Agents,” in Findings of the Association for Computational Linguistics: ACL 2024, Bangkok, Thailand, 2024, pp. 10471–10506.</a:t>
            </a:r>
            <a:endParaRPr i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[8] F. Jia, T. Wu, X. Qin, and A. Squicciarini, “The Task Shield: Enforcing Task Alignment to Defend Against Indirect Prompt Injection in LLM Agents,” in Proc. 63rd Annual Meeting of the Association for Computational Linguistics (ACL), pp. 29680–29697, Jul. 2025, arXiv:2412.16682.</a:t>
            </a:r>
            <a:endParaRPr i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[9] H. Li, X. Liu, and C. Xiao, “InjecGuard: Benchmarking and Mitigating Over-defense in Prompt Injection Guardrail Models,” arXiv preprint arXiv:2410.22770, 2024.</a:t>
            </a:r>
            <a:endParaRPr i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[10] Y. Qin et al., “ToolLLM: Facilitating Large Language Models to Master 16000+ Real-World APIs,” arXiv preprint arXiv:2307.16789, 2023.</a:t>
            </a:r>
            <a:endParaRPr i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[11] E. Zverev, S. Abdelnabi, M. Fritz, and C. H. Lampert, “Can LLMs Separate Instructions From Data? And What Do We Even Mean By That?,” arXiv preprint arXiv:2403.06833, 2024.</a:t>
            </a:r>
            <a:endParaRPr i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[12] Y. Ruan, H. Dong, A. Wang, S. Pitis, Y. Zhou, J. Ba, Y. Dubois, C. J. Maddison, and T. Hashimoto, “Identifying the Risks of LM Agents with an LM-Emulated Sandbox,” in Proc. Int. Conf. on Learning Representations (ICLR), 2024, arXiv:2309.15817.</a:t>
            </a:r>
            <a:endParaRPr i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[13] D. Kim and A. Oh, “Generalizing Weisfeiler-Lehman Kernels to Subgraphs,” arXiv preprint arXiv:2412.02181, Dec. 2024. </a:t>
            </a:r>
            <a:endParaRPr i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400"/>
              </a:spcBef>
              <a:spcAft>
                <a:spcPts val="400"/>
              </a:spcAft>
              <a:buNone/>
            </a:pPr>
            <a:r>
              <a:rPr i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[14] R. Ross, “Guide for Conducting Risk Assessments,” NIST Special Publication 800-30 Rev. 1, National Institute of Standards and Technology, 2012.</a:t>
            </a:r>
            <a:endParaRPr i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B1670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9"/>
          <p:cNvSpPr/>
          <p:nvPr/>
        </p:nvSpPr>
        <p:spPr>
          <a:xfrm>
            <a:off x="-2286000" y="-2286000"/>
            <a:ext cx="5943600" cy="5943600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9"/>
          <p:cNvSpPr/>
          <p:nvPr/>
        </p:nvSpPr>
        <p:spPr>
          <a:xfrm>
            <a:off x="8961120" y="3840480"/>
            <a:ext cx="5029200" cy="5029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9"/>
          <p:cNvSpPr txBox="1"/>
          <p:nvPr/>
        </p:nvSpPr>
        <p:spPr>
          <a:xfrm>
            <a:off x="731520" y="246888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C9F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D9C9FA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9"/>
          <p:cNvSpPr txBox="1"/>
          <p:nvPr/>
        </p:nvSpPr>
        <p:spPr>
          <a:xfrm>
            <a:off x="731520" y="2834640"/>
            <a:ext cx="10515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Questions &amp; Discussion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9"/>
          <p:cNvSpPr txBox="1"/>
          <p:nvPr/>
        </p:nvSpPr>
        <p:spPr>
          <a:xfrm>
            <a:off x="731520" y="397764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B8F2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CBB8F2"/>
                </a:solidFill>
                <a:latin typeface="Calibri"/>
                <a:ea typeface="Calibri"/>
                <a:cs typeface="Calibri"/>
                <a:sym typeface="Calibri"/>
              </a:rPr>
              <a:t>Zain Saqib   ·   Tasbiha Nasir   ·   Madiha Aslam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9"/>
          <p:cNvSpPr txBox="1"/>
          <p:nvPr/>
        </p:nvSpPr>
        <p:spPr>
          <a:xfrm>
            <a:off x="731520" y="443484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B8F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BB8F2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 FAST-NUCES, Karachi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9"/>
          <p:cNvSpPr/>
          <p:nvPr/>
        </p:nvSpPr>
        <p:spPr>
          <a:xfrm>
            <a:off x="11000232" y="63550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B456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B4560"/>
                </a:solidFill>
                <a:latin typeface="Calibri"/>
                <a:ea typeface="Calibri"/>
                <a:cs typeface="Calibri"/>
                <a:sym typeface="Calibri"/>
              </a:rPr>
              <a:t>14 / 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